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 but get to the point in 30 seconds. 'You know nutrition deeply. You've also watched the public information layer around food rot — scores that contradict each other, labels nobody can read, influencers filling the vacuum. Bari is an attempt to fix that layer with real engineering and real evidence discipline. I'm not here to pitch you a logo — I'm here to show you a system that already exists, and to ask whether you want to put your name and judgement inside it while it's still being shaped.' Set expectation: ~25 slides, heavy on what's built, honest about what isn't.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a SCIENTIST would feel it, not a marketer. The expert has personally seen patients act on garbage scores. Validate that frustration first; it earns the right to everything 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core thesis early: the gap is interpretation, not raw data. Everything Bari builds sits in that gap. Don't rush — let the scientist nod at 'meaning doesn't exist'.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concrete Israeli-shelf example the expert recognises: a 'diet' dessert that is engineered worse than its plain sibling. This previews our maadanim (מילקי = E) finding without naming the section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you signal technical seriousness: Bari's engine actually parses named additives and reasons about them (named-additive identity, engine 0.4.0). Tease, don't explain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quietly defines the evaluation criteria the expert will use on US — and we happen to meet all four. Let them feel they wrote the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line: 'So the question isn't whether this layer is needed — it's whether anyone can build it credibly. Here's what we are building.'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energy from problem to ambition. Keep it grounded: vision slides are where skeptics disengage if you over-claim. Anchor every layer to something that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Repeat the spine: ONE engine, THREE audiences, PLUS a marketplace. The consumer site is the proof and the data flywheel; professional + industry are where defensibility lives; the marketplace is where trust becomes revenue. Stress the integrity line: we monetise the transaction, never the grade.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explicitly: the DATA layer underneath (proprietary scored corpus + evidence registry) is what makes the upper layers possible and hard to copy; the marketplace is what makes the trust pay. The integrity guardrail is structural — you can buy a product through Bari, you can never buy a better grade.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LOGIC of the order, not the dates. Audience first because trust is the scarce asset; professional tools only after the engine has been validated on real categories; US last because the engine must be proven portable before geography multiplies cost.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core. Pace slows here. The expert must leave this section thinking 'this is further along and more disciplined than I expected.'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scoring is DELIBERATELY isolated downstream. Ingestion, consolidation, and judgement are separate layers — so the expert can audit the judgement layer without touching plumbing. That separation is itself a rigor signal.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separates Bari from every content startup. Emphasise: we have a MECHANISM to refuse to answer (null on insufficient) and a MECHANISM to record every exception. A scientist trusts a system that knows its own limits.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operating model is the unsung moat: an auditable trail from a raw label to a published grade, with a registry that records who decided what and why. Most teams have none of this. Mention the 10 live external clients as evidence we reason from authoritative sources, not scraping guesses.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replication difficulty to TIME and DISCIPLINE, not secrecy. Anyone can copy a UI in a week; nobody can copy two years of calibrated category judgement and a governance trail. This is the slide an investor remembers.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speak peer-to-peer. This section is for the scientist's internal credibility test. Lead with philosophy, then prove each principle with a real category ruling.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as a manifesto, then say: 'Principles are cheap — let me show you five times this changed an actual grade.' Hand over to the examples.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'they actually think about food' proof. The protein-trap correction (raw-vs-prepared boundary) is exactly the kind of subtle call a dietitian respects and a keyword classifier gets wrong.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persuasive slide for a skeptic: we improved scores when evidence justified it AND refused to inflate to an A when the data didn't support one. That asymmetry — quick to credit, slow to crown — is the whole trust thesis in one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Quantify. The skeptic is asking 'is this real or a demo?'. Numbers from the live corpus answer that.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and modest: these are CURATED counts (the publishable subset), and you should say so — it reinforces that we withhold what we can't defend. The 256→81→31 bread funnel is the single best honesty proof point; lead with it if pressed.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Lessons matter more than milestones to a scientist — they prove we learn under contact with reality. Each lesson maps to a real EV-id or run, so none of this is abstract.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sober here. A scientist distrusts a revenue fairy tale. Pair every stage with its real risk. Credibility now buys believability later.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 the integrity guardrail hard: across EVERY stage — especially the marketplace and industry stages — we monetise the transaction, never the grade. The instant a brand can buy a better score, consumer trust (and the expert's reputation) evaporates. Our governance makes that boundary structural, not a promise. The marketplace is how trust becomes revenue without compromising the science.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2147483660" name="Bari Logo (master)" descr="Bari"/>
          <p:cNvPicPr>
            <a:picLocks noChangeAspect="1"/>
          </p:cNvPicPr>
          <p:nvPr/>
        </p:nvPicPr>
        <p:blipFill>
          <a:blip r:embed="rId13"/>
          <a:stretch>
            <a:fillRect/>
          </a:stretch>
        </p:blipFill>
        <p:spPr>
          <a:xfrm>
            <a:off x="10222992" y="274320"/>
            <a:ext cx="1554480" cy="560458"/>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331720"/>
            <a:ext cx="2011680" cy="54864"/>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424160" cy="914400"/>
          </a:xfrm>
          <a:prstGeom prst="rect">
            <a:avLst/>
          </a:prstGeom>
          <a:noFill/>
        </p:spPr>
        <p:txBody>
          <a:bodyPr wrap="square" anchor="t">
            <a:spAutoFit/>
          </a:bodyPr>
          <a:lstStyle/>
          <a:p>
            <a:pPr algn="l">
              <a:spcBef>
                <a:spcPts val="0"/>
              </a:spcBef>
              <a:spcAft>
                <a:spcPts val="600"/>
              </a:spcAft>
            </a:pPr>
            <a:r>
              <a:rPr sz="2200" b="1" i="0">
                <a:solidFill>
                  <a:srgbClr val="1F9E8A"/>
                </a:solidFill>
                <a:latin typeface="Segoe UI"/>
              </a:rPr>
              <a:t>BARI</a:t>
            </a:r>
            <a:r>
              <a:rPr sz="2200" b="0" i="0">
                <a:solidFill>
                  <a:srgbClr val="6B7A8C"/>
                </a:solidFill>
                <a:latin typeface="Segoe UI"/>
              </a:rPr>
              <a:t>  ·  Nutrition Intelligence</a:t>
            </a:r>
          </a:p>
        </p:txBody>
      </p:sp>
      <p:sp>
        <p:nvSpPr>
          <p:cNvPr id="6" name="TextBox 5"/>
          <p:cNvSpPr txBox="1"/>
          <p:nvPr/>
        </p:nvSpPr>
        <p:spPr>
          <a:xfrm>
            <a:off x="777240" y="2514600"/>
            <a:ext cx="10607040" cy="2011680"/>
          </a:xfrm>
          <a:prstGeom prst="rect">
            <a:avLst/>
          </a:prstGeom>
          <a:noFill/>
        </p:spPr>
        <p:txBody>
          <a:bodyPr wrap="square" anchor="t">
            <a:spAutoFit/>
          </a:bodyPr>
          <a:lstStyle/>
          <a:p>
            <a:pPr algn="l">
              <a:spcBef>
                <a:spcPts val="0"/>
              </a:spcBef>
              <a:spcAft>
                <a:spcPts val="1400"/>
              </a:spcAft>
            </a:pPr>
            <a:r>
              <a:rPr sz="4600" b="1" i="0">
                <a:solidFill>
                  <a:srgbClr val="FFFFFF"/>
                </a:solidFill>
                <a:latin typeface="Segoe UI"/>
              </a:rPr>
              <a:t>Bari — Building Nutrition Intelligence</a:t>
            </a:r>
          </a:p>
          <a:p>
            <a:pPr algn="l">
              <a:spcBef>
                <a:spcPts val="0"/>
              </a:spcBef>
              <a:spcAft>
                <a:spcPts val="1400"/>
              </a:spcAft>
            </a:pPr>
            <a:r>
              <a:rPr sz="2200" b="0" i="1">
                <a:solidFill>
                  <a:srgbClr val="B8C4D0"/>
                </a:solidFill>
                <a:latin typeface="Segoe UI"/>
              </a:rPr>
              <a:t>A partnership conversation for a senior nutrition scientist</a:t>
            </a:r>
          </a:p>
        </p:txBody>
      </p:sp>
      <p:sp>
        <p:nvSpPr>
          <p:cNvPr id="7" name="TextBox 6"/>
          <p:cNvSpPr txBox="1"/>
          <p:nvPr/>
        </p:nvSpPr>
        <p:spPr>
          <a:xfrm>
            <a:off x="822960" y="5852160"/>
            <a:ext cx="10515600" cy="640080"/>
          </a:xfrm>
          <a:prstGeom prst="rect">
            <a:avLst/>
          </a:prstGeom>
          <a:noFill/>
        </p:spPr>
        <p:txBody>
          <a:bodyPr wrap="square" anchor="t">
            <a:spAutoFit/>
          </a:bodyPr>
          <a:lstStyle/>
          <a:p>
            <a:pPr algn="l">
              <a:spcBef>
                <a:spcPts val="0"/>
              </a:spcBef>
              <a:spcAft>
                <a:spcPts val="600"/>
              </a:spcAft>
            </a:pPr>
            <a:r>
              <a:rPr sz="1300" b="0" i="0">
                <a:solidFill>
                  <a:srgbClr val="6B7A8C"/>
                </a:solidFill>
                <a:latin typeface="Segoe UI"/>
              </a:rPr>
              <a:t>Confidential  ·  Prepared for nutrition-expert evaluation  ·  June 2026</a:t>
            </a:r>
          </a:p>
        </p:txBody>
      </p:sp>
      <p:pic>
        <p:nvPicPr>
          <p:cNvPr id="8" name="Picture 7" descr="logo_dark.png"/>
          <p:cNvPicPr>
            <a:picLocks noChangeAspect="1"/>
          </p:cNvPicPr>
          <p:nvPr/>
        </p:nvPicPr>
        <p:blipFill>
          <a:blip r:embed="rId2"/>
          <a:stretch>
            <a:fillRect/>
          </a:stretch>
        </p:blipFill>
        <p:spPr>
          <a:xfrm>
            <a:off x="10222992" y="274320"/>
            <a:ext cx="1554480" cy="560459"/>
          </a:xfrm>
          <a:prstGeom prst="rect">
            <a:avLst/>
          </a:prstGeom>
        </p:spPr>
      </p:pic>
      <p:sp>
        <p:nvSpPr>
          <p:cNvPr id="9" name="TextBox 8"/>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36576"/>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15600" cy="548640"/>
          </a:xfrm>
          <a:prstGeom prst="rect">
            <a:avLst/>
          </a:prstGeom>
          <a:noFill/>
        </p:spPr>
        <p:txBody>
          <a:bodyPr wrap="square" anchor="t">
            <a:spAutoFit/>
          </a:bodyPr>
          <a:lstStyle/>
          <a:p>
            <a:pPr algn="l">
              <a:spcBef>
                <a:spcPts val="0"/>
              </a:spcBef>
              <a:spcAft>
                <a:spcPts val="600"/>
              </a:spcAft>
            </a:pPr>
            <a:r>
              <a:rPr sz="1800" b="1" i="0">
                <a:solidFill>
                  <a:srgbClr val="1F9E8A"/>
                </a:solidFill>
                <a:latin typeface="Segoe UI"/>
              </a:rPr>
              <a:t>SECTION 1</a:t>
            </a:r>
          </a:p>
        </p:txBody>
      </p:sp>
      <p:sp>
        <p:nvSpPr>
          <p:cNvPr id="5" name="TextBox 4"/>
          <p:cNvSpPr txBox="1"/>
          <p:nvPr/>
        </p:nvSpPr>
        <p:spPr>
          <a:xfrm>
            <a:off x="777240" y="2880360"/>
            <a:ext cx="10607040" cy="2194560"/>
          </a:xfrm>
          <a:prstGeom prst="rect">
            <a:avLst/>
          </a:prstGeom>
          <a:noFill/>
        </p:spPr>
        <p:txBody>
          <a:bodyPr wrap="square" anchor="t">
            <a:spAutoFit/>
          </a:bodyPr>
          <a:lstStyle/>
          <a:p>
            <a:pPr algn="l">
              <a:spcBef>
                <a:spcPts val="0"/>
              </a:spcBef>
              <a:spcAft>
                <a:spcPts val="1400"/>
              </a:spcAft>
            </a:pPr>
            <a:r>
              <a:rPr sz="4000" b="1" i="0">
                <a:solidFill>
                  <a:srgbClr val="FFFFFF"/>
                </a:solidFill>
                <a:latin typeface="Segoe UI"/>
              </a:rPr>
              <a:t>The Problem</a:t>
            </a:r>
          </a:p>
          <a:p>
            <a:pPr algn="l">
              <a:spcBef>
                <a:spcPts val="0"/>
              </a:spcBef>
              <a:spcAft>
                <a:spcPts val="1400"/>
              </a:spcAft>
            </a:pPr>
            <a:r>
              <a:rPr sz="1900" b="0" i="1">
                <a:solidFill>
                  <a:srgbClr val="B8C4D0"/>
                </a:solidFill>
                <a:latin typeface="Segoe UI"/>
              </a:rPr>
              <a:t>The consumer nutrition-information layer is broken — and trust is leaving with it.</a:t>
            </a:r>
          </a:p>
        </p:txBody>
      </p:sp>
      <p:pic>
        <p:nvPicPr>
          <p:cNvPr id="6" name="Picture 5" descr="logo_dark.png"/>
          <p:cNvPicPr>
            <a:picLocks noChangeAspect="1"/>
          </p:cNvPicPr>
          <p:nvPr/>
        </p:nvPicPr>
        <p:blipFill>
          <a:blip r:embed="rId2"/>
          <a:stretch>
            <a:fillRect/>
          </a:stretch>
        </p:blipFill>
        <p:spPr>
          <a:xfrm>
            <a:off x="10222992" y="274320"/>
            <a:ext cx="1554480" cy="560459"/>
          </a:xfrm>
          <a:prstGeom prst="rect">
            <a:avLst/>
          </a:prstGeom>
        </p:spPr>
      </p:pic>
      <p:sp>
        <p:nvSpPr>
          <p:cNvPr id="7" name="TextBox 6"/>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PROBLEM · 1 OF 5</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Nutrition information is structurally broken</a:t>
            </a:r>
          </a:p>
        </p:txBody>
      </p:sp>
      <p:sp>
        <p:nvSpPr>
          <p:cNvPr id="8" name="TextBox 7"/>
          <p:cNvSpPr txBox="1"/>
          <p:nvPr/>
        </p:nvSpPr>
        <p:spPr>
          <a:xfrm>
            <a:off x="777240" y="1417320"/>
            <a:ext cx="617220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The failure is not a lack of data. It is the absence of a trustworthy interpretation layer between the label and the person.</a:t>
            </a:r>
          </a:p>
        </p:txBody>
      </p:sp>
      <p:sp>
        <p:nvSpPr>
          <p:cNvPr id="9" name="TextBox 8"/>
          <p:cNvSpPr txBox="1"/>
          <p:nvPr/>
        </p:nvSpPr>
        <p:spPr>
          <a:xfrm>
            <a:off x="777240" y="2020824"/>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Data exists, meaning doesn't.  </a:t>
            </a:r>
            <a:r>
              <a:rPr sz="1400" b="0" i="0">
                <a:solidFill>
                  <a:srgbClr val="3A4A5E"/>
                </a:solidFill>
                <a:latin typeface="Segoe UI"/>
              </a:rPr>
              <a:t>Every package has a panel; almost no consumer can convert it into a decision.</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Interpretation is outsourced to whoever shouts loudest.  </a:t>
            </a:r>
            <a:r>
              <a:rPr sz="1400" b="0" i="0">
                <a:solidFill>
                  <a:srgbClr val="3A4A5E"/>
                </a:solidFill>
                <a:latin typeface="Segoe UI"/>
              </a:rPr>
              <a:t>Influencers and brands fill the vacuum the science left open.</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Context collapses.  </a:t>
            </a:r>
            <a:r>
              <a:rPr sz="1400" b="0" i="0">
                <a:solidFill>
                  <a:srgbClr val="3A4A5E"/>
                </a:solidFill>
                <a:latin typeface="Segoe UI"/>
              </a:rPr>
              <a:t>A number with no category, no confidence, and no reasoning is noise dressed as authority.</a:t>
            </a:r>
          </a:p>
        </p:txBody>
      </p:sp>
      <p:pic>
        <p:nvPicPr>
          <p:cNvPr id="10" name="Picture 9" descr="problem_missing_layer.png"/>
          <p:cNvPicPr>
            <a:picLocks noChangeAspect="1"/>
          </p:cNvPicPr>
          <p:nvPr/>
        </p:nvPicPr>
        <p:blipFill>
          <a:blip r:embed="rId2"/>
          <a:stretch>
            <a:fillRect/>
          </a:stretch>
        </p:blipFill>
        <p:spPr>
          <a:xfrm>
            <a:off x="7315200" y="1481328"/>
            <a:ext cx="4343400" cy="4433139"/>
          </a:xfrm>
          <a:prstGeom prst="rect">
            <a:avLst/>
          </a:prstGeom>
        </p:spPr>
      </p:pic>
      <p:pic>
        <p:nvPicPr>
          <p:cNvPr id="11" name="Picture 10"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2" name="TextBox 11"/>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PROBLEM · 2 OF 5</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Consumers are confused — predictably so</a:t>
            </a:r>
          </a:p>
        </p:txBody>
      </p:sp>
      <p:sp>
        <p:nvSpPr>
          <p:cNvPr id="8" name="TextBox 7"/>
          <p:cNvSpPr txBox="1"/>
          <p:nvPr/>
        </p:nvSpPr>
        <p:spPr>
          <a:xfrm>
            <a:off x="777240" y="1417320"/>
            <a:ext cx="1060704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Marketing language mimics health language.  </a:t>
            </a:r>
            <a:r>
              <a:rPr sz="1400" b="0" i="0">
                <a:solidFill>
                  <a:srgbClr val="3A4A5E"/>
                </a:solidFill>
                <a:latin typeface="Segoe UI"/>
              </a:rPr>
              <a:t>‘טבעי’, ‘ללא’, ‘עשיר ב־’ carry no consistent meaning.</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Front-of-pack claims contradict the back-of-pack reality.  </a:t>
            </a:r>
            <a:r>
              <a:rPr sz="1400" b="0" i="0">
                <a:solidFill>
                  <a:srgbClr val="3A4A5E"/>
                </a:solidFill>
                <a:latin typeface="Segoe UI"/>
              </a:rPr>
              <a:t>The diet-yogurt that scores worse than the full-fat one.</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Health-by-omission.  </a:t>
            </a:r>
            <a:r>
              <a:rPr sz="1400" b="0" i="0">
                <a:solidFill>
                  <a:srgbClr val="3A4A5E"/>
                </a:solidFill>
                <a:latin typeface="Segoe UI"/>
              </a:rPr>
              <a:t>‘No sugar’ says nothing about what replaced it.</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No category sense.  </a:t>
            </a:r>
            <a:r>
              <a:rPr sz="1400" b="0" i="0">
                <a:solidFill>
                  <a:srgbClr val="3A4A5E"/>
                </a:solidFill>
                <a:latin typeface="Segoe UI"/>
              </a:rPr>
              <a:t>Shoppers compare a cracker to a yogurt because nothing tells them not to.</a:t>
            </a:r>
          </a:p>
        </p:txBody>
      </p:sp>
      <p:sp>
        <p:nvSpPr>
          <p:cNvPr id="9" name="Rectangle 8"/>
          <p:cNvSpPr/>
          <p:nvPr/>
        </p:nvSpPr>
        <p:spPr>
          <a:xfrm>
            <a:off x="0" y="6126480"/>
            <a:ext cx="12191695" cy="73152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12648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236208"/>
            <a:ext cx="10607040" cy="548640"/>
          </a:xfrm>
          <a:prstGeom prst="rect">
            <a:avLst/>
          </a:prstGeom>
          <a:noFill/>
        </p:spPr>
        <p:txBody>
          <a:bodyPr wrap="square" anchor="t">
            <a:spAutoFit/>
          </a:bodyPr>
          <a:lstStyle/>
          <a:p>
            <a:pPr algn="l">
              <a:spcBef>
                <a:spcPts val="0"/>
              </a:spcBef>
              <a:spcAft>
                <a:spcPts val="600"/>
              </a:spcAft>
            </a:pPr>
            <a:r>
              <a:rPr sz="1100" b="1" i="0">
                <a:solidFill>
                  <a:srgbClr val="156B5E"/>
                </a:solidFill>
                <a:latin typeface="Segoe UI"/>
              </a:rPr>
              <a:t>VISUAL  </a:t>
            </a:r>
            <a:r>
              <a:rPr sz="1200" b="0" i="1">
                <a:solidFill>
                  <a:srgbClr val="3A4A5E"/>
                </a:solidFill>
                <a:latin typeface="Segoe UI"/>
              </a:rPr>
              <a:t>Three real front-of-pack claims with a red 'says nothing about…' annotation under each.</a:t>
            </a:r>
          </a:p>
        </p:txBody>
      </p:sp>
      <p:pic>
        <p:nvPicPr>
          <p:cNvPr id="12" name="Picture 11" descr="logo_light.png"/>
          <p:cNvPicPr>
            <a:picLocks noChangeAspect="1"/>
          </p:cNvPicPr>
          <p:nvPr/>
        </p:nvPicPr>
        <p:blipFill>
          <a:blip r:embed="rId2"/>
          <a:stretch>
            <a:fillRect/>
          </a:stretch>
        </p:blipFill>
        <p:spPr>
          <a:xfrm>
            <a:off x="10222992" y="274320"/>
            <a:ext cx="1554480" cy="560459"/>
          </a:xfrm>
          <a:prstGeom prst="rect">
            <a:avLst/>
          </a:prstGeom>
        </p:spPr>
      </p:pic>
      <p:sp>
        <p:nvSpPr>
          <p:cNvPr id="13" name="TextBox 12"/>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PROBLEM · 3 OF 5</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Ingredient lists are effectively unreadable</a:t>
            </a:r>
          </a:p>
        </p:txBody>
      </p:sp>
      <p:sp>
        <p:nvSpPr>
          <p:cNvPr id="8" name="TextBox 7"/>
          <p:cNvSpPr txBox="1"/>
          <p:nvPr/>
        </p:nvSpPr>
        <p:spPr>
          <a:xfrm>
            <a:off x="777240" y="1417320"/>
            <a:ext cx="1060704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Length is weaponised.  </a:t>
            </a:r>
            <a:r>
              <a:rPr sz="1400" b="0" i="0">
                <a:solidFill>
                  <a:srgbClr val="3A4A5E"/>
                </a:solidFill>
                <a:latin typeface="Segoe UI"/>
              </a:rPr>
              <a:t>20+ ingredients, additives behind code numbers, function hidden.</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Order obscures dose.  </a:t>
            </a:r>
            <a:r>
              <a:rPr sz="1400" b="0" i="0">
                <a:solidFill>
                  <a:srgbClr val="3A4A5E"/>
                </a:solidFill>
                <a:latin typeface="Segoe UI"/>
              </a:rPr>
              <a:t>Position implies quantity but never states it.</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Named-additive identity is lost.  </a:t>
            </a:r>
            <a:r>
              <a:rPr sz="1400" b="0" i="0">
                <a:solidFill>
                  <a:srgbClr val="3A4A5E"/>
                </a:solidFill>
                <a:latin typeface="Segoe UI"/>
              </a:rPr>
              <a:t>‘חלבון חלב’, emulsifiers, stabilisers read as one grey blur.</a:t>
            </a:r>
          </a:p>
          <a:p>
            <a:pPr algn="l">
              <a:spcBef>
                <a:spcPts val="0"/>
              </a:spcBef>
              <a:spcAft>
                <a:spcPts val="1100"/>
              </a:spcAft>
            </a:pPr>
            <a:r>
              <a:rPr sz="1500" b="1" i="0">
                <a:solidFill>
                  <a:srgbClr val="1F9E8A"/>
                </a:solidFill>
                <a:latin typeface="Segoe UI"/>
              </a:rPr>
              <a:t>▸  </a:t>
            </a:r>
            <a:r>
              <a:rPr sz="1500" b="0" i="0">
                <a:solidFill>
                  <a:srgbClr val="0E1A2B"/>
                </a:solidFill>
                <a:latin typeface="Segoe UI"/>
              </a:rPr>
              <a:t>Even a trained dietitian needs minutes per product. A shopper has seconds.</a:t>
            </a:r>
          </a:p>
        </p:txBody>
      </p:sp>
      <p:sp>
        <p:nvSpPr>
          <p:cNvPr id="9" name="Rectangle 8"/>
          <p:cNvSpPr/>
          <p:nvPr/>
        </p:nvSpPr>
        <p:spPr>
          <a:xfrm>
            <a:off x="0" y="6126480"/>
            <a:ext cx="12191695" cy="73152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12648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236208"/>
            <a:ext cx="10607040" cy="548640"/>
          </a:xfrm>
          <a:prstGeom prst="rect">
            <a:avLst/>
          </a:prstGeom>
          <a:noFill/>
        </p:spPr>
        <p:txBody>
          <a:bodyPr wrap="square" anchor="t">
            <a:spAutoFit/>
          </a:bodyPr>
          <a:lstStyle/>
          <a:p>
            <a:pPr algn="l">
              <a:spcBef>
                <a:spcPts val="0"/>
              </a:spcBef>
              <a:spcAft>
                <a:spcPts val="600"/>
              </a:spcAft>
            </a:pPr>
            <a:r>
              <a:rPr sz="1100" b="1" i="0">
                <a:solidFill>
                  <a:srgbClr val="156B5E"/>
                </a:solidFill>
                <a:latin typeface="Segoe UI"/>
              </a:rPr>
              <a:t>VISUAL  </a:t>
            </a:r>
            <a:r>
              <a:rPr sz="1200" b="0" i="1">
                <a:solidFill>
                  <a:srgbClr val="3A4A5E"/>
                </a:solidFill>
                <a:latin typeface="Segoe UI"/>
              </a:rPr>
              <a:t>A real long ingredient list with additive codes highlighted and a stopwatch overlay ('avg shopper attention: 6s').</a:t>
            </a:r>
          </a:p>
        </p:txBody>
      </p:sp>
      <p:pic>
        <p:nvPicPr>
          <p:cNvPr id="12" name="Picture 11" descr="logo_light.png"/>
          <p:cNvPicPr>
            <a:picLocks noChangeAspect="1"/>
          </p:cNvPicPr>
          <p:nvPr/>
        </p:nvPicPr>
        <p:blipFill>
          <a:blip r:embed="rId2"/>
          <a:stretch>
            <a:fillRect/>
          </a:stretch>
        </p:blipFill>
        <p:spPr>
          <a:xfrm>
            <a:off x="10222992" y="274320"/>
            <a:ext cx="1554480" cy="560459"/>
          </a:xfrm>
          <a:prstGeom prst="rect">
            <a:avLst/>
          </a:prstGeom>
        </p:spPr>
      </p:pic>
      <p:sp>
        <p:nvSpPr>
          <p:cNvPr id="13" name="TextBox 12"/>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PROBLEM · 4 OF 5</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Existing scores fail — and fail quietly</a:t>
            </a:r>
          </a:p>
        </p:txBody>
      </p:sp>
      <p:sp>
        <p:nvSpPr>
          <p:cNvPr id="8" name="Rectangle 7"/>
          <p:cNvSpPr/>
          <p:nvPr/>
        </p:nvSpPr>
        <p:spPr>
          <a:xfrm>
            <a:off x="77724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472184"/>
            <a:ext cx="4754880" cy="365760"/>
          </a:xfrm>
          <a:prstGeom prst="rect">
            <a:avLst/>
          </a:prstGeom>
          <a:noFill/>
        </p:spPr>
        <p:txBody>
          <a:bodyPr wrap="square" anchor="t">
            <a:spAutoFit/>
          </a:bodyPr>
          <a:lstStyle/>
          <a:p>
            <a:pPr algn="l">
              <a:spcBef>
                <a:spcPts val="0"/>
              </a:spcBef>
              <a:spcAft>
                <a:spcPts val="600"/>
              </a:spcAft>
            </a:pPr>
            <a:r>
              <a:rPr sz="1500" b="1" i="0">
                <a:solidFill>
                  <a:srgbClr val="156B5E"/>
                </a:solidFill>
                <a:latin typeface="Segoe UI"/>
              </a:rPr>
              <a:t>Why current scores break</a:t>
            </a:r>
          </a:p>
        </p:txBody>
      </p:sp>
      <p:sp>
        <p:nvSpPr>
          <p:cNvPr id="11" name="TextBox 10"/>
          <p:cNvSpPr txBox="1"/>
          <p:nvPr/>
        </p:nvSpPr>
        <p:spPr>
          <a:xfrm>
            <a:off x="822960" y="2020824"/>
            <a:ext cx="4937760" cy="4023360"/>
          </a:xfrm>
          <a:prstGeom prst="rect">
            <a:avLst/>
          </a:prstGeom>
          <a:noFill/>
        </p:spPr>
        <p:txBody>
          <a:bodyPr wrap="square" anchor="t">
            <a:spAutoFit/>
          </a:bodyPr>
          <a:lstStyle/>
          <a:p>
            <a:pPr algn="l">
              <a:spcBef>
                <a:spcPts val="0"/>
              </a:spcBef>
              <a:spcAft>
                <a:spcPts val="800"/>
              </a:spcAft>
            </a:pPr>
            <a:r>
              <a:rPr sz="1350" b="1" i="0">
                <a:solidFill>
                  <a:srgbClr val="1F9E8A"/>
                </a:solidFill>
                <a:latin typeface="Segoe UI"/>
              </a:rPr>
              <a:t>•  </a:t>
            </a:r>
            <a:r>
              <a:rPr sz="1350" b="1" i="0">
                <a:solidFill>
                  <a:srgbClr val="0E1A2B"/>
                </a:solidFill>
                <a:latin typeface="Segoe UI"/>
              </a:rPr>
              <a:t>One global formula.  </a:t>
            </a:r>
            <a:r>
              <a:rPr sz="1250" b="0" i="0">
                <a:solidFill>
                  <a:srgbClr val="3A4A5E"/>
                </a:solidFill>
                <a:latin typeface="Segoe UI"/>
              </a:rPr>
              <a:t>A bread rule applied to yogurt is wrong by construction.</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No confidence.  </a:t>
            </a:r>
            <a:r>
              <a:rPr sz="1250" b="0" i="0">
                <a:solidFill>
                  <a:srgbClr val="3A4A5E"/>
                </a:solidFill>
                <a:latin typeface="Segoe UI"/>
              </a:rPr>
              <a:t>A guess and a verified result look identical.</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No reasoning.  </a:t>
            </a:r>
            <a:r>
              <a:rPr sz="1250" b="0" i="0">
                <a:solidFill>
                  <a:srgbClr val="3A4A5E"/>
                </a:solidFill>
                <a:latin typeface="Segoe UI"/>
              </a:rPr>
              <a:t>A letter with no ‘why’ can't be trusted or challenged.</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Gamed.  </a:t>
            </a:r>
            <a:r>
              <a:rPr sz="1250" b="0" i="0">
                <a:solidFill>
                  <a:srgbClr val="3A4A5E"/>
                </a:solidFill>
                <a:latin typeface="Segoe UI"/>
              </a:rPr>
              <a:t>Reformulate to beat the metric, not to improve the food.</a:t>
            </a:r>
          </a:p>
        </p:txBody>
      </p:sp>
      <p:sp>
        <p:nvSpPr>
          <p:cNvPr id="12" name="Rectangle 11"/>
          <p:cNvSpPr/>
          <p:nvPr/>
        </p:nvSpPr>
        <p:spPr>
          <a:xfrm>
            <a:off x="635508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472184"/>
            <a:ext cx="4754880" cy="365760"/>
          </a:xfrm>
          <a:prstGeom prst="rect">
            <a:avLst/>
          </a:prstGeom>
          <a:noFill/>
        </p:spPr>
        <p:txBody>
          <a:bodyPr wrap="square" anchor="t">
            <a:spAutoFit/>
          </a:bodyPr>
          <a:lstStyle/>
          <a:p>
            <a:pPr algn="l">
              <a:spcBef>
                <a:spcPts val="0"/>
              </a:spcBef>
              <a:spcAft>
                <a:spcPts val="600"/>
              </a:spcAft>
            </a:pPr>
            <a:r>
              <a:rPr sz="1500" b="1" i="0">
                <a:solidFill>
                  <a:srgbClr val="156B5E"/>
                </a:solidFill>
                <a:latin typeface="Segoe UI"/>
              </a:rPr>
              <a:t>What a credible score needs</a:t>
            </a:r>
          </a:p>
        </p:txBody>
      </p:sp>
      <p:sp>
        <p:nvSpPr>
          <p:cNvPr id="15" name="TextBox 14"/>
          <p:cNvSpPr txBox="1"/>
          <p:nvPr/>
        </p:nvSpPr>
        <p:spPr>
          <a:xfrm>
            <a:off x="6400800" y="2020824"/>
            <a:ext cx="4937760" cy="4023360"/>
          </a:xfrm>
          <a:prstGeom prst="rect">
            <a:avLst/>
          </a:prstGeom>
          <a:noFill/>
        </p:spPr>
        <p:txBody>
          <a:bodyPr wrap="square" anchor="t">
            <a:spAutoFit/>
          </a:bodyPr>
          <a:lstStyle/>
          <a:p>
            <a:pPr algn="l">
              <a:spcBef>
                <a:spcPts val="0"/>
              </a:spcBef>
              <a:spcAft>
                <a:spcPts val="800"/>
              </a:spcAft>
            </a:pPr>
            <a:r>
              <a:rPr sz="1350" b="1" i="0">
                <a:solidFill>
                  <a:srgbClr val="1F9E8A"/>
                </a:solidFill>
                <a:latin typeface="Segoe UI"/>
              </a:rPr>
              <a:t>•  </a:t>
            </a:r>
            <a:r>
              <a:rPr sz="1350" b="1" i="0">
                <a:solidFill>
                  <a:srgbClr val="0E1A2B"/>
                </a:solidFill>
                <a:latin typeface="Segoe UI"/>
              </a:rPr>
              <a:t>Category-relative judgement.  </a:t>
            </a:r>
            <a:r>
              <a:rPr sz="1250" b="0" i="0">
                <a:solidFill>
                  <a:srgbClr val="3A4A5E"/>
                </a:solidFill>
                <a:latin typeface="Segoe UI"/>
              </a:rPr>
              <a:t>Compare like with like.</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Explicit confidence.  </a:t>
            </a:r>
            <a:r>
              <a:rPr sz="1250" b="0" i="0">
                <a:solidFill>
                  <a:srgbClr val="3A4A5E"/>
                </a:solidFill>
                <a:latin typeface="Segoe UI"/>
              </a:rPr>
              <a:t>Verified / partial / insufficient — never hidden.</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Traceable reasoning.  </a:t>
            </a:r>
            <a:r>
              <a:rPr sz="1250" b="0" i="0">
                <a:solidFill>
                  <a:srgbClr val="3A4A5E"/>
                </a:solidFill>
                <a:latin typeface="Segoe UI"/>
              </a:rPr>
              <a:t>Every grade defends itself from real signals.</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Evidence-anchored rules.  </a:t>
            </a:r>
            <a:r>
              <a:rPr sz="1250" b="0" i="0">
                <a:solidFill>
                  <a:srgbClr val="3A4A5E"/>
                </a:solidFill>
                <a:latin typeface="Segoe UI"/>
              </a:rPr>
              <a:t>Not opinion, not vibes.</a:t>
            </a:r>
          </a:p>
        </p:txBody>
      </p:sp>
      <p:sp>
        <p:nvSpPr>
          <p:cNvPr id="16" name="Rectangle 15"/>
          <p:cNvSpPr/>
          <p:nvPr/>
        </p:nvSpPr>
        <p:spPr>
          <a:xfrm>
            <a:off x="0" y="6126480"/>
            <a:ext cx="12191695" cy="73152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12648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236208"/>
            <a:ext cx="10607040" cy="548640"/>
          </a:xfrm>
          <a:prstGeom prst="rect">
            <a:avLst/>
          </a:prstGeom>
          <a:noFill/>
        </p:spPr>
        <p:txBody>
          <a:bodyPr wrap="square" anchor="t">
            <a:spAutoFit/>
          </a:bodyPr>
          <a:lstStyle/>
          <a:p>
            <a:pPr algn="l">
              <a:spcBef>
                <a:spcPts val="0"/>
              </a:spcBef>
              <a:spcAft>
                <a:spcPts val="600"/>
              </a:spcAft>
            </a:pPr>
            <a:r>
              <a:rPr sz="1100" b="1" i="0">
                <a:solidFill>
                  <a:srgbClr val="156B5E"/>
                </a:solidFill>
                <a:latin typeface="Segoe UI"/>
              </a:rPr>
              <a:t>VISUAL  </a:t>
            </a:r>
            <a:r>
              <a:rPr sz="1200" b="0" i="1">
                <a:solidFill>
                  <a:srgbClr val="3A4A5E"/>
                </a:solidFill>
                <a:latin typeface="Segoe UI"/>
              </a:rPr>
              <a:t>Two-column 'Today vs. What's required' table; left column greyed, right column in Bari teal.</a:t>
            </a:r>
          </a:p>
        </p:txBody>
      </p:sp>
      <p:pic>
        <p:nvPicPr>
          <p:cNvPr id="19" name="Picture 18" descr="logo_light.png"/>
          <p:cNvPicPr>
            <a:picLocks noChangeAspect="1"/>
          </p:cNvPicPr>
          <p:nvPr/>
        </p:nvPicPr>
        <p:blipFill>
          <a:blip r:embed="rId2"/>
          <a:stretch>
            <a:fillRect/>
          </a:stretch>
        </p:blipFill>
        <p:spPr>
          <a:xfrm>
            <a:off x="10222992" y="274320"/>
            <a:ext cx="1554480" cy="560459"/>
          </a:xfrm>
          <a:prstGeom prst="rect">
            <a:avLst/>
          </a:prstGeom>
        </p:spPr>
      </p:pic>
      <p:sp>
        <p:nvSpPr>
          <p:cNvPr id="20" name="TextBox 19"/>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PROBLEM · 5 OF 5</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Trust is deteriorating — that's the opening</a:t>
            </a:r>
          </a:p>
        </p:txBody>
      </p:sp>
      <p:sp>
        <p:nvSpPr>
          <p:cNvPr id="8" name="TextBox 7"/>
          <p:cNvSpPr txBox="1"/>
          <p:nvPr/>
        </p:nvSpPr>
        <p:spPr>
          <a:xfrm>
            <a:off x="777240" y="1417320"/>
            <a:ext cx="617220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When institutions go quiet, the loudest voice wins. The result is a market actively hungry for a source that is rigorous and readable at the same time.</a:t>
            </a:r>
          </a:p>
        </p:txBody>
      </p:sp>
      <p:sp>
        <p:nvSpPr>
          <p:cNvPr id="9" name="TextBox 8"/>
          <p:cNvSpPr txBox="1"/>
          <p:nvPr/>
        </p:nvSpPr>
        <p:spPr>
          <a:xfrm>
            <a:off x="777240" y="2020824"/>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The authority vacuum is real.  </a:t>
            </a:r>
            <a:r>
              <a:rPr sz="1400" b="0" i="0">
                <a:solidFill>
                  <a:srgbClr val="3A4A5E"/>
                </a:solidFill>
                <a:latin typeface="Segoe UI"/>
              </a:rPr>
              <a:t>Regulators are slow; brands are conflicted; social media is fast and wrong.</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Consumers know they're being sold to.  </a:t>
            </a:r>
            <a:r>
              <a:rPr sz="1400" b="0" i="0">
                <a:solidFill>
                  <a:srgbClr val="3A4A5E"/>
                </a:solidFill>
                <a:latin typeface="Segoe UI"/>
              </a:rPr>
              <a:t>Skepticism is high — credibility is scarce and therefore valuable.</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The winner is whoever is both trusted AND usable.  </a:t>
            </a:r>
            <a:r>
              <a:rPr sz="1400" b="0" i="0">
                <a:solidFill>
                  <a:srgbClr val="3A4A5E"/>
                </a:solidFill>
                <a:latin typeface="Segoe UI"/>
              </a:rPr>
              <a:t>Rigor alone is ignored; usability alone is dangerous. Bari targets the intersection.</a:t>
            </a:r>
          </a:p>
        </p:txBody>
      </p:sp>
      <p:pic>
        <p:nvPicPr>
          <p:cNvPr id="10" name="Picture 9" descr="problem_trust.png"/>
          <p:cNvPicPr>
            <a:picLocks noChangeAspect="1"/>
          </p:cNvPicPr>
          <p:nvPr/>
        </p:nvPicPr>
        <p:blipFill>
          <a:blip r:embed="rId2"/>
          <a:stretch>
            <a:fillRect/>
          </a:stretch>
        </p:blipFill>
        <p:spPr>
          <a:xfrm>
            <a:off x="7315200" y="1481328"/>
            <a:ext cx="4343400" cy="3777073"/>
          </a:xfrm>
          <a:prstGeom prst="rect">
            <a:avLst/>
          </a:prstGeom>
        </p:spPr>
      </p:pic>
      <p:pic>
        <p:nvPicPr>
          <p:cNvPr id="11" name="Picture 10"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2" name="TextBox 11"/>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36576"/>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15600" cy="548640"/>
          </a:xfrm>
          <a:prstGeom prst="rect">
            <a:avLst/>
          </a:prstGeom>
          <a:noFill/>
        </p:spPr>
        <p:txBody>
          <a:bodyPr wrap="square" anchor="t">
            <a:spAutoFit/>
          </a:bodyPr>
          <a:lstStyle/>
          <a:p>
            <a:pPr algn="l">
              <a:spcBef>
                <a:spcPts val="0"/>
              </a:spcBef>
              <a:spcAft>
                <a:spcPts val="600"/>
              </a:spcAft>
            </a:pPr>
            <a:r>
              <a:rPr sz="1800" b="1" i="0">
                <a:solidFill>
                  <a:srgbClr val="1F9E8A"/>
                </a:solidFill>
                <a:latin typeface="Segoe UI"/>
              </a:rPr>
              <a:t>SECTION 2</a:t>
            </a:r>
          </a:p>
        </p:txBody>
      </p:sp>
      <p:sp>
        <p:nvSpPr>
          <p:cNvPr id="5" name="TextBox 4"/>
          <p:cNvSpPr txBox="1"/>
          <p:nvPr/>
        </p:nvSpPr>
        <p:spPr>
          <a:xfrm>
            <a:off x="777240" y="2880360"/>
            <a:ext cx="10607040" cy="2194560"/>
          </a:xfrm>
          <a:prstGeom prst="rect">
            <a:avLst/>
          </a:prstGeom>
          <a:noFill/>
        </p:spPr>
        <p:txBody>
          <a:bodyPr wrap="square" anchor="t">
            <a:spAutoFit/>
          </a:bodyPr>
          <a:lstStyle/>
          <a:p>
            <a:pPr algn="l">
              <a:spcBef>
                <a:spcPts val="0"/>
              </a:spcBef>
              <a:spcAft>
                <a:spcPts val="1400"/>
              </a:spcAft>
            </a:pPr>
            <a:r>
              <a:rPr sz="4000" b="1" i="0">
                <a:solidFill>
                  <a:srgbClr val="FFFFFF"/>
                </a:solidFill>
                <a:latin typeface="Segoe UI"/>
              </a:rPr>
              <a:t>The Bari Vision</a:t>
            </a:r>
          </a:p>
          <a:p>
            <a:pPr algn="l">
              <a:spcBef>
                <a:spcPts val="0"/>
              </a:spcBef>
              <a:spcAft>
                <a:spcPts val="1400"/>
              </a:spcAft>
            </a:pPr>
            <a:r>
              <a:rPr sz="1900" b="0" i="1">
                <a:solidFill>
                  <a:srgbClr val="B8C4D0"/>
                </a:solidFill>
                <a:latin typeface="Segoe UI"/>
              </a:rPr>
              <a:t>One rigorous engine powering three audiences — consumer, professional, industry — and a trusted commerce marketplace.</a:t>
            </a:r>
          </a:p>
        </p:txBody>
      </p:sp>
      <p:pic>
        <p:nvPicPr>
          <p:cNvPr id="6" name="Picture 5" descr="logo_dark.png"/>
          <p:cNvPicPr>
            <a:picLocks noChangeAspect="1"/>
          </p:cNvPicPr>
          <p:nvPr/>
        </p:nvPicPr>
        <p:blipFill>
          <a:blip r:embed="rId2"/>
          <a:stretch>
            <a:fillRect/>
          </a:stretch>
        </p:blipFill>
        <p:spPr>
          <a:xfrm>
            <a:off x="10222992" y="274320"/>
            <a:ext cx="1554480" cy="560459"/>
          </a:xfrm>
          <a:prstGeom prst="rect">
            <a:avLst/>
          </a:prstGeom>
        </p:spPr>
      </p:pic>
      <p:sp>
        <p:nvSpPr>
          <p:cNvPr id="7" name="TextBox 6"/>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VISION</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What Bari is</a:t>
            </a:r>
          </a:p>
        </p:txBody>
      </p:sp>
      <p:sp>
        <p:nvSpPr>
          <p:cNvPr id="8" name="TextBox 7"/>
          <p:cNvSpPr txBox="1"/>
          <p:nvPr/>
        </p:nvSpPr>
        <p:spPr>
          <a:xfrm>
            <a:off x="777240" y="1417320"/>
            <a:ext cx="617220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Bari is a nutrition-intelligence platform: an evidence-anchored engine that turns messy real-world food labels into honest, category-aware, explainable judgement — and the trusted place to act on it.</a:t>
            </a:r>
          </a:p>
        </p:txBody>
      </p:sp>
      <p:sp>
        <p:nvSpPr>
          <p:cNvPr id="9" name="TextBox 8"/>
          <p:cNvSpPr txBox="1"/>
          <p:nvPr/>
        </p:nvSpPr>
        <p:spPr>
          <a:xfrm>
            <a:off x="777240" y="2020824"/>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Not a blog. Not a single score.  </a:t>
            </a:r>
            <a:r>
              <a:rPr sz="1400" b="0" i="0">
                <a:solidFill>
                  <a:srgbClr val="3A4A5E"/>
                </a:solidFill>
                <a:latin typeface="Segoe UI"/>
              </a:rPr>
              <a:t>An interpretation engine with governance, confidence and provenance built in.</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Starts consumer-facing in Hebrew.  </a:t>
            </a:r>
            <a:r>
              <a:rPr sz="1400" b="0" i="0">
                <a:solidFill>
                  <a:srgbClr val="3A4A5E"/>
                </a:solidFill>
                <a:latin typeface="Segoe UI"/>
              </a:rPr>
              <a:t>Live comparison pages on the Israeli shelf today.</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Three intelligence audiences, one engine.  </a:t>
            </a:r>
            <a:r>
              <a:rPr sz="1400" b="0" i="0">
                <a:solidFill>
                  <a:srgbClr val="3A4A5E"/>
                </a:solidFill>
                <a:latin typeface="Segoe UI"/>
              </a:rPr>
              <a:t>Consumer, professional and industry — same engine, progressively deeper surfaces.</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And a trusted marketplace.  </a:t>
            </a:r>
            <a:r>
              <a:rPr sz="1400" b="0" i="0">
                <a:solidFill>
                  <a:srgbClr val="3A4A5E"/>
                </a:solidFill>
                <a:latin typeface="Segoe UI"/>
              </a:rPr>
              <a:t>Bari is also where trust converts to action — discovering and buying better products — without ever putting a grade up for sale.</a:t>
            </a:r>
          </a:p>
        </p:txBody>
      </p:sp>
      <p:pic>
        <p:nvPicPr>
          <p:cNvPr id="10" name="Picture 9" descr="engine_surface.png"/>
          <p:cNvPicPr>
            <a:picLocks noChangeAspect="1"/>
          </p:cNvPicPr>
          <p:nvPr/>
        </p:nvPicPr>
        <p:blipFill>
          <a:blip r:embed="rId2"/>
          <a:stretch>
            <a:fillRect/>
          </a:stretch>
        </p:blipFill>
        <p:spPr>
          <a:xfrm>
            <a:off x="7315200" y="1481328"/>
            <a:ext cx="4343400" cy="4174396"/>
          </a:xfrm>
          <a:prstGeom prst="rect">
            <a:avLst/>
          </a:prstGeom>
        </p:spPr>
      </p:pic>
      <p:pic>
        <p:nvPicPr>
          <p:cNvPr id="11" name="Picture 10"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2" name="TextBox 11"/>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VISION</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Three audiences + a marketplace, one engine</a:t>
            </a:r>
          </a:p>
        </p:txBody>
      </p:sp>
      <p:sp>
        <p:nvSpPr>
          <p:cNvPr id="8" name="TextBox 7"/>
          <p:cNvSpPr txBox="1"/>
          <p:nvPr/>
        </p:nvSpPr>
        <p:spPr>
          <a:xfrm>
            <a:off x="777240" y="1417320"/>
            <a:ext cx="1060704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The same engine serves three intelligence audiences — and a commerce layer that turns earned trust into transactions.</a:t>
            </a:r>
          </a:p>
        </p:txBody>
      </p:sp>
      <p:sp>
        <p:nvSpPr>
          <p:cNvPr id="9" name="Rectangle 8"/>
          <p:cNvSpPr/>
          <p:nvPr/>
        </p:nvSpPr>
        <p:spPr>
          <a:xfrm>
            <a:off x="777240" y="2020824"/>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20824"/>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75688"/>
            <a:ext cx="4754880" cy="365760"/>
          </a:xfrm>
          <a:prstGeom prst="rect">
            <a:avLst/>
          </a:prstGeom>
          <a:noFill/>
        </p:spPr>
        <p:txBody>
          <a:bodyPr wrap="square" anchor="t">
            <a:spAutoFit/>
          </a:bodyPr>
          <a:lstStyle/>
          <a:p>
            <a:pPr algn="l">
              <a:spcBef>
                <a:spcPts val="0"/>
              </a:spcBef>
              <a:spcAft>
                <a:spcPts val="600"/>
              </a:spcAft>
            </a:pPr>
            <a:r>
              <a:rPr sz="1400" b="1" i="0">
                <a:solidFill>
                  <a:srgbClr val="156B5E"/>
                </a:solidFill>
                <a:latin typeface="Segoe UI"/>
              </a:rPr>
              <a:t>Consumer layer  (live)</a:t>
            </a:r>
          </a:p>
        </p:txBody>
      </p:sp>
      <p:sp>
        <p:nvSpPr>
          <p:cNvPr id="12" name="TextBox 11"/>
          <p:cNvSpPr txBox="1"/>
          <p:nvPr/>
        </p:nvSpPr>
        <p:spPr>
          <a:xfrm>
            <a:off x="822960" y="2624328"/>
            <a:ext cx="4937760" cy="2286000"/>
          </a:xfrm>
          <a:prstGeom prst="rect">
            <a:avLst/>
          </a:prstGeom>
          <a:noFill/>
        </p:spPr>
        <p:txBody>
          <a:bodyPr wrap="square" anchor="t">
            <a:spAutoFit/>
          </a:bodyPr>
          <a:lstStyle/>
          <a:p>
            <a:pPr algn="l">
              <a:spcBef>
                <a:spcPts val="0"/>
              </a:spcBef>
              <a:spcAft>
                <a:spcPts val="500"/>
              </a:spcAft>
            </a:pPr>
            <a:r>
              <a:rPr sz="1250" b="1" i="0">
                <a:solidFill>
                  <a:srgbClr val="1F9E8A"/>
                </a:solidFill>
                <a:latin typeface="Segoe UI"/>
              </a:rPr>
              <a:t>•  </a:t>
            </a:r>
            <a:r>
              <a:rPr sz="1250" b="0" i="0">
                <a:solidFill>
                  <a:srgbClr val="0E1A2B"/>
                </a:solidFill>
                <a:latin typeface="Segoe UI"/>
              </a:rPr>
              <a:t>Category comparison pages on the real Israeli shelf</a:t>
            </a:r>
          </a:p>
          <a:p>
            <a:pPr algn="l">
              <a:spcBef>
                <a:spcPts val="0"/>
              </a:spcBef>
              <a:spcAft>
                <a:spcPts val="500"/>
              </a:spcAft>
            </a:pPr>
            <a:r>
              <a:rPr sz="1250" b="1" i="0">
                <a:solidFill>
                  <a:srgbClr val="1F9E8A"/>
                </a:solidFill>
                <a:latin typeface="Segoe UI"/>
              </a:rPr>
              <a:t>•  </a:t>
            </a:r>
            <a:r>
              <a:rPr sz="1250" b="0" i="0">
                <a:solidFill>
                  <a:srgbClr val="0E1A2B"/>
                </a:solidFill>
                <a:latin typeface="Segoe UI"/>
              </a:rPr>
              <a:t>Honest grades + plain-language verdicts</a:t>
            </a:r>
          </a:p>
          <a:p>
            <a:pPr algn="l">
              <a:spcBef>
                <a:spcPts val="0"/>
              </a:spcBef>
              <a:spcAft>
                <a:spcPts val="500"/>
              </a:spcAft>
            </a:pPr>
            <a:r>
              <a:rPr sz="1250" b="1" i="0">
                <a:solidFill>
                  <a:srgbClr val="1F9E8A"/>
                </a:solidFill>
                <a:latin typeface="Segoe UI"/>
              </a:rPr>
              <a:t>•  </a:t>
            </a:r>
            <a:r>
              <a:rPr sz="1250" b="0" i="0">
                <a:solidFill>
                  <a:srgbClr val="0E1A2B"/>
                </a:solidFill>
                <a:latin typeface="Segoe UI"/>
              </a:rPr>
              <a:t>Confidence shown, never hidden</a:t>
            </a:r>
          </a:p>
        </p:txBody>
      </p:sp>
      <p:sp>
        <p:nvSpPr>
          <p:cNvPr id="13" name="Rectangle 12"/>
          <p:cNvSpPr/>
          <p:nvPr/>
        </p:nvSpPr>
        <p:spPr>
          <a:xfrm>
            <a:off x="6355080" y="2020824"/>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020824"/>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075688"/>
            <a:ext cx="4754880" cy="365760"/>
          </a:xfrm>
          <a:prstGeom prst="rect">
            <a:avLst/>
          </a:prstGeom>
          <a:noFill/>
        </p:spPr>
        <p:txBody>
          <a:bodyPr wrap="square" anchor="t">
            <a:spAutoFit/>
          </a:bodyPr>
          <a:lstStyle/>
          <a:p>
            <a:pPr algn="l">
              <a:spcBef>
                <a:spcPts val="0"/>
              </a:spcBef>
              <a:spcAft>
                <a:spcPts val="600"/>
              </a:spcAft>
            </a:pPr>
            <a:r>
              <a:rPr sz="1400" b="1" i="0">
                <a:solidFill>
                  <a:srgbClr val="156B5E"/>
                </a:solidFill>
                <a:latin typeface="Segoe UI"/>
              </a:rPr>
              <a:t>Professional + commerce  (next)</a:t>
            </a:r>
          </a:p>
        </p:txBody>
      </p:sp>
      <p:sp>
        <p:nvSpPr>
          <p:cNvPr id="16" name="TextBox 15"/>
          <p:cNvSpPr txBox="1"/>
          <p:nvPr/>
        </p:nvSpPr>
        <p:spPr>
          <a:xfrm>
            <a:off x="6400800" y="2624328"/>
            <a:ext cx="4937760" cy="2286000"/>
          </a:xfrm>
          <a:prstGeom prst="rect">
            <a:avLst/>
          </a:prstGeom>
          <a:noFill/>
        </p:spPr>
        <p:txBody>
          <a:bodyPr wrap="square" anchor="t">
            <a:spAutoFit/>
          </a:bodyPr>
          <a:lstStyle/>
          <a:p>
            <a:pPr algn="l">
              <a:spcBef>
                <a:spcPts val="0"/>
              </a:spcBef>
              <a:spcAft>
                <a:spcPts val="500"/>
              </a:spcAft>
            </a:pPr>
            <a:r>
              <a:rPr sz="1250" b="1" i="0">
                <a:solidFill>
                  <a:srgbClr val="1F9E8A"/>
                </a:solidFill>
                <a:latin typeface="Segoe UI"/>
              </a:rPr>
              <a:t>•  </a:t>
            </a:r>
            <a:r>
              <a:rPr sz="1250" b="0" i="0">
                <a:solidFill>
                  <a:srgbClr val="0E1A2B"/>
                </a:solidFill>
                <a:latin typeface="Segoe UI"/>
              </a:rPr>
              <a:t>Decision-support for dietitians &amp; clinicians</a:t>
            </a:r>
          </a:p>
          <a:p>
            <a:pPr algn="l">
              <a:spcBef>
                <a:spcPts val="0"/>
              </a:spcBef>
              <a:spcAft>
                <a:spcPts val="500"/>
              </a:spcAft>
            </a:pPr>
            <a:r>
              <a:rPr sz="1250" b="1" i="0">
                <a:solidFill>
                  <a:srgbClr val="1F9E8A"/>
                </a:solidFill>
                <a:latin typeface="Segoe UI"/>
              </a:rPr>
              <a:t>•  </a:t>
            </a:r>
            <a:r>
              <a:rPr sz="1250" b="0" i="0">
                <a:solidFill>
                  <a:srgbClr val="0E1A2B"/>
                </a:solidFill>
                <a:latin typeface="Segoe UI"/>
              </a:rPr>
              <a:t>Category dossiers, evidence trails, defensible reasoning</a:t>
            </a:r>
          </a:p>
          <a:p>
            <a:pPr algn="l">
              <a:spcBef>
                <a:spcPts val="0"/>
              </a:spcBef>
              <a:spcAft>
                <a:spcPts val="500"/>
              </a:spcAft>
            </a:pPr>
            <a:r>
              <a:rPr sz="1250" b="1" i="0">
                <a:solidFill>
                  <a:srgbClr val="1F9E8A"/>
                </a:solidFill>
                <a:latin typeface="Segoe UI"/>
              </a:rPr>
              <a:t>•  </a:t>
            </a:r>
            <a:r>
              <a:rPr sz="1250" b="0" i="0">
                <a:solidFill>
                  <a:srgbClr val="0E1A2B"/>
                </a:solidFill>
                <a:latin typeface="Segoe UI"/>
              </a:rPr>
              <a:t>A marketplace: discover → buy better products (grade stays unsellable)</a:t>
            </a:r>
          </a:p>
        </p:txBody>
      </p:sp>
      <p:pic>
        <p:nvPicPr>
          <p:cNvPr id="17" name="Picture 16" descr="three_layers_band.png"/>
          <p:cNvPicPr>
            <a:picLocks noChangeAspect="1"/>
          </p:cNvPicPr>
          <p:nvPr/>
        </p:nvPicPr>
        <p:blipFill>
          <a:blip r:embed="rId2"/>
          <a:stretch>
            <a:fillRect/>
          </a:stretch>
        </p:blipFill>
        <p:spPr>
          <a:xfrm>
            <a:off x="609447" y="4972050"/>
            <a:ext cx="10972800" cy="1684782"/>
          </a:xfrm>
          <a:prstGeom prst="rect">
            <a:avLst/>
          </a:prstGeom>
        </p:spPr>
      </p:pic>
      <p:pic>
        <p:nvPicPr>
          <p:cNvPr id="18" name="Picture 17"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9" name="TextBox 18"/>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THE VISION · 5-YEAR ARC</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A credible five-year path</a:t>
            </a:r>
          </a:p>
        </p:txBody>
      </p:sp>
      <p:sp>
        <p:nvSpPr>
          <p:cNvPr id="8" name="TextBox 7"/>
          <p:cNvSpPr txBox="1"/>
          <p:nvPr/>
        </p:nvSpPr>
        <p:spPr>
          <a:xfrm>
            <a:off x="777240" y="1417320"/>
            <a:ext cx="1060704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Audience → trust → tools → industry → geography. Each year funds and de-risks the next; no leap is unbacked.</a:t>
            </a:r>
          </a:p>
        </p:txBody>
      </p:sp>
      <p:sp>
        <p:nvSpPr>
          <p:cNvPr id="9" name="TextBox 8"/>
          <p:cNvSpPr txBox="1"/>
          <p:nvPr/>
        </p:nvSpPr>
        <p:spPr>
          <a:xfrm>
            <a:off x="777240" y="2020824"/>
            <a:ext cx="1060704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Years 1–2 — earn the shelf.  </a:t>
            </a:r>
            <a:r>
              <a:rPr sz="1400" b="0" i="0">
                <a:solidFill>
                  <a:srgbClr val="3A4A5E"/>
                </a:solidFill>
                <a:latin typeface="Segoe UI"/>
              </a:rPr>
              <a:t>A live Israeli comparison platform, then deepening category intelligence.</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Year 3 — professional tools.  </a:t>
            </a:r>
            <a:r>
              <a:rPr sz="1400" b="0" i="0">
                <a:solidFill>
                  <a:srgbClr val="3A4A5E"/>
                </a:solidFill>
                <a:latin typeface="Segoe UI"/>
              </a:rPr>
              <a:t>Subscriptions for dietitians &amp; clinics, once the engine is category-proven.</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Years 4–5 — commerce, industry &amp; geography.  </a:t>
            </a:r>
            <a:r>
              <a:rPr sz="1400" b="0" i="0">
                <a:solidFill>
                  <a:srgbClr val="3A4A5E"/>
                </a:solidFill>
                <a:latin typeface="Segoe UI"/>
              </a:rPr>
              <a:t>Retail integration and a product marketplace, then US expansion + a nutrition-intelligence ecosystem others build on.</a:t>
            </a:r>
          </a:p>
        </p:txBody>
      </p:sp>
      <p:pic>
        <p:nvPicPr>
          <p:cNvPr id="10" name="Picture 9" descr="roadmap_band.png"/>
          <p:cNvPicPr>
            <a:picLocks noChangeAspect="1"/>
          </p:cNvPicPr>
          <p:nvPr/>
        </p:nvPicPr>
        <p:blipFill>
          <a:blip r:embed="rId2"/>
          <a:stretch>
            <a:fillRect/>
          </a:stretch>
        </p:blipFill>
        <p:spPr>
          <a:xfrm>
            <a:off x="938060" y="4828032"/>
            <a:ext cx="10315575" cy="1828800"/>
          </a:xfrm>
          <a:prstGeom prst="rect">
            <a:avLst/>
          </a:prstGeom>
        </p:spPr>
      </p:pic>
      <p:pic>
        <p:nvPicPr>
          <p:cNvPr id="11" name="Picture 10"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2" name="TextBox 11"/>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36576"/>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15600" cy="548640"/>
          </a:xfrm>
          <a:prstGeom prst="rect">
            <a:avLst/>
          </a:prstGeom>
          <a:noFill/>
        </p:spPr>
        <p:txBody>
          <a:bodyPr wrap="square" anchor="t">
            <a:spAutoFit/>
          </a:bodyPr>
          <a:lstStyle/>
          <a:p>
            <a:pPr algn="l">
              <a:spcBef>
                <a:spcPts val="0"/>
              </a:spcBef>
              <a:spcAft>
                <a:spcPts val="600"/>
              </a:spcAft>
            </a:pPr>
            <a:r>
              <a:rPr sz="1800" b="1" i="0">
                <a:solidFill>
                  <a:srgbClr val="1F9E8A"/>
                </a:solidFill>
                <a:latin typeface="Segoe UI"/>
              </a:rPr>
              <a:t>SECTION 3</a:t>
            </a:r>
          </a:p>
        </p:txBody>
      </p:sp>
      <p:sp>
        <p:nvSpPr>
          <p:cNvPr id="5" name="TextBox 4"/>
          <p:cNvSpPr txBox="1"/>
          <p:nvPr/>
        </p:nvSpPr>
        <p:spPr>
          <a:xfrm>
            <a:off x="777240" y="2880360"/>
            <a:ext cx="10607040" cy="2194560"/>
          </a:xfrm>
          <a:prstGeom prst="rect">
            <a:avLst/>
          </a:prstGeom>
          <a:noFill/>
        </p:spPr>
        <p:txBody>
          <a:bodyPr wrap="square" anchor="t">
            <a:spAutoFit/>
          </a:bodyPr>
          <a:lstStyle/>
          <a:p>
            <a:pPr algn="l">
              <a:spcBef>
                <a:spcPts val="0"/>
              </a:spcBef>
              <a:spcAft>
                <a:spcPts val="1400"/>
              </a:spcAft>
            </a:pPr>
            <a:r>
              <a:rPr sz="4000" b="1" i="0">
                <a:solidFill>
                  <a:srgbClr val="FFFFFF"/>
                </a:solidFill>
                <a:latin typeface="Segoe UI"/>
              </a:rPr>
              <a:t>What We've Already Built</a:t>
            </a:r>
          </a:p>
          <a:p>
            <a:pPr algn="l">
              <a:spcBef>
                <a:spcPts val="0"/>
              </a:spcBef>
              <a:spcAft>
                <a:spcPts val="1400"/>
              </a:spcAft>
            </a:pPr>
            <a:r>
              <a:rPr sz="1900" b="0" i="1">
                <a:solidFill>
                  <a:srgbClr val="B8C4D0"/>
                </a:solidFill>
                <a:latin typeface="Segoe UI"/>
              </a:rPr>
              <a:t>This is not a concept deck. A working pipeline, a scoring engine, governance, and a live site already exist.</a:t>
            </a:r>
          </a:p>
        </p:txBody>
      </p:sp>
      <p:pic>
        <p:nvPicPr>
          <p:cNvPr id="6" name="Picture 5" descr="logo_dark.png"/>
          <p:cNvPicPr>
            <a:picLocks noChangeAspect="1"/>
          </p:cNvPicPr>
          <p:nvPr/>
        </p:nvPicPr>
        <p:blipFill>
          <a:blip r:embed="rId2"/>
          <a:stretch>
            <a:fillRect/>
          </a:stretch>
        </p:blipFill>
        <p:spPr>
          <a:xfrm>
            <a:off x="10222992" y="274320"/>
            <a:ext cx="1554480" cy="560459"/>
          </a:xfrm>
          <a:prstGeom prst="rect">
            <a:avLst/>
          </a:prstGeom>
        </p:spPr>
      </p:pic>
      <p:sp>
        <p:nvSpPr>
          <p:cNvPr id="7" name="TextBox 6"/>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WHAT WE BUILT · PIPELINE</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A three-stage data pipeline: BSIP0 → BSIP1 → BSIP2</a:t>
            </a:r>
          </a:p>
        </p:txBody>
      </p:sp>
      <p:sp>
        <p:nvSpPr>
          <p:cNvPr id="8" name="Rectangle 7"/>
          <p:cNvSpPr/>
          <p:nvPr/>
        </p:nvSpPr>
        <p:spPr>
          <a:xfrm>
            <a:off x="77724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472184"/>
            <a:ext cx="4754880" cy="365760"/>
          </a:xfrm>
          <a:prstGeom prst="rect">
            <a:avLst/>
          </a:prstGeom>
          <a:noFill/>
        </p:spPr>
        <p:txBody>
          <a:bodyPr wrap="square" anchor="t">
            <a:spAutoFit/>
          </a:bodyPr>
          <a:lstStyle/>
          <a:p>
            <a:pPr algn="l">
              <a:spcBef>
                <a:spcPts val="0"/>
              </a:spcBef>
              <a:spcAft>
                <a:spcPts val="600"/>
              </a:spcAft>
            </a:pPr>
            <a:r>
              <a:rPr sz="1400" b="1" i="0">
                <a:solidFill>
                  <a:srgbClr val="156B5E"/>
                </a:solidFill>
                <a:latin typeface="Segoe UI"/>
              </a:rPr>
              <a:t>Ingestion &amp; consolidation</a:t>
            </a:r>
          </a:p>
        </p:txBody>
      </p:sp>
      <p:sp>
        <p:nvSpPr>
          <p:cNvPr id="11" name="TextBox 10"/>
          <p:cNvSpPr txBox="1"/>
          <p:nvPr/>
        </p:nvSpPr>
        <p:spPr>
          <a:xfrm>
            <a:off x="822960" y="2020824"/>
            <a:ext cx="4937760" cy="2286000"/>
          </a:xfrm>
          <a:prstGeom prst="rect">
            <a:avLst/>
          </a:prstGeom>
          <a:noFill/>
        </p:spPr>
        <p:txBody>
          <a:bodyPr wrap="square" anchor="t">
            <a:spAutoFit/>
          </a:bodyPr>
          <a:lstStyle/>
          <a:p>
            <a:pPr algn="l">
              <a:spcBef>
                <a:spcPts val="0"/>
              </a:spcBef>
              <a:spcAft>
                <a:spcPts val="500"/>
              </a:spcAft>
            </a:pPr>
            <a:r>
              <a:rPr sz="1250" b="1" i="0">
                <a:solidFill>
                  <a:srgbClr val="1F9E8A"/>
                </a:solidFill>
                <a:latin typeface="Segoe UI"/>
              </a:rPr>
              <a:t>•  </a:t>
            </a:r>
            <a:r>
              <a:rPr sz="1250" b="1" i="0">
                <a:solidFill>
                  <a:srgbClr val="0E1A2B"/>
                </a:solidFill>
                <a:latin typeface="Segoe UI"/>
              </a:rPr>
              <a:t>BSIP0 — acquisition.  </a:t>
            </a:r>
            <a:r>
              <a:rPr sz="1150" b="0" i="0">
                <a:solidFill>
                  <a:srgbClr val="3A4A5E"/>
                </a:solidFill>
                <a:latin typeface="Segoe UI"/>
              </a:rPr>
              <a:t>Real retailer scraping (Shufersal), label &amp; nutrition parsing, raw-source persistence for offline replay.</a:t>
            </a:r>
          </a:p>
          <a:p>
            <a:pPr algn="l">
              <a:spcBef>
                <a:spcPts val="0"/>
              </a:spcBef>
              <a:spcAft>
                <a:spcPts val="500"/>
              </a:spcAft>
            </a:pPr>
            <a:r>
              <a:rPr sz="1250" b="1" i="0">
                <a:solidFill>
                  <a:srgbClr val="1F9E8A"/>
                </a:solidFill>
                <a:latin typeface="Segoe UI"/>
              </a:rPr>
              <a:t>•  </a:t>
            </a:r>
            <a:r>
              <a:rPr sz="1250" b="1" i="0">
                <a:solidFill>
                  <a:srgbClr val="0E1A2B"/>
                </a:solidFill>
                <a:latin typeface="Segoe UI"/>
              </a:rPr>
              <a:t>BSIP1 — trust layer.  </a:t>
            </a:r>
            <a:r>
              <a:rPr sz="1150" b="0" i="0">
                <a:solidFill>
                  <a:srgbClr val="3A4A5E"/>
                </a:solidFill>
                <a:latin typeface="Segoe UI"/>
              </a:rPr>
              <a:t>Cross-retailer consolidation, observation-quality + canonical trust scoring, 10-field semantic enrichment. Not scoring.</a:t>
            </a:r>
          </a:p>
        </p:txBody>
      </p:sp>
      <p:sp>
        <p:nvSpPr>
          <p:cNvPr id="12" name="Rectangle 11"/>
          <p:cNvSpPr/>
          <p:nvPr/>
        </p:nvSpPr>
        <p:spPr>
          <a:xfrm>
            <a:off x="635508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472184"/>
            <a:ext cx="4754880" cy="365760"/>
          </a:xfrm>
          <a:prstGeom prst="rect">
            <a:avLst/>
          </a:prstGeom>
          <a:noFill/>
        </p:spPr>
        <p:txBody>
          <a:bodyPr wrap="square" anchor="t">
            <a:spAutoFit/>
          </a:bodyPr>
          <a:lstStyle/>
          <a:p>
            <a:pPr algn="l">
              <a:spcBef>
                <a:spcPts val="0"/>
              </a:spcBef>
              <a:spcAft>
                <a:spcPts val="600"/>
              </a:spcAft>
            </a:pPr>
            <a:r>
              <a:rPr sz="1400" b="1" i="0">
                <a:solidFill>
                  <a:srgbClr val="156B5E"/>
                </a:solidFill>
                <a:latin typeface="Segoe UI"/>
              </a:rPr>
              <a:t>Scoring &amp; interpretation</a:t>
            </a:r>
          </a:p>
        </p:txBody>
      </p:sp>
      <p:sp>
        <p:nvSpPr>
          <p:cNvPr id="15" name="TextBox 14"/>
          <p:cNvSpPr txBox="1"/>
          <p:nvPr/>
        </p:nvSpPr>
        <p:spPr>
          <a:xfrm>
            <a:off x="6400800" y="2020824"/>
            <a:ext cx="4937760" cy="2286000"/>
          </a:xfrm>
          <a:prstGeom prst="rect">
            <a:avLst/>
          </a:prstGeom>
          <a:noFill/>
        </p:spPr>
        <p:txBody>
          <a:bodyPr wrap="square" anchor="t">
            <a:spAutoFit/>
          </a:bodyPr>
          <a:lstStyle/>
          <a:p>
            <a:pPr algn="l">
              <a:spcBef>
                <a:spcPts val="0"/>
              </a:spcBef>
              <a:spcAft>
                <a:spcPts val="500"/>
              </a:spcAft>
            </a:pPr>
            <a:r>
              <a:rPr sz="1250" b="1" i="0">
                <a:solidFill>
                  <a:srgbClr val="1F9E8A"/>
                </a:solidFill>
                <a:latin typeface="Segoe UI"/>
              </a:rPr>
              <a:t>•  </a:t>
            </a:r>
            <a:r>
              <a:rPr sz="1250" b="1" i="0">
                <a:solidFill>
                  <a:srgbClr val="0E1A2B"/>
                </a:solidFill>
                <a:latin typeface="Segoe UI"/>
              </a:rPr>
              <a:t>BSIP2 — the engine.  </a:t>
            </a:r>
            <a:r>
              <a:rPr sz="1150" b="0" i="0">
                <a:solidFill>
                  <a:srgbClr val="3A4A5E"/>
                </a:solidFill>
                <a:latin typeface="Segoe UI"/>
              </a:rPr>
              <a:t>Four interpretive layers: Structural, Nutritional, Metabolic, Engineering.</a:t>
            </a:r>
          </a:p>
          <a:p>
            <a:pPr algn="l">
              <a:spcBef>
                <a:spcPts val="0"/>
              </a:spcBef>
              <a:spcAft>
                <a:spcPts val="500"/>
              </a:spcAft>
            </a:pPr>
            <a:r>
              <a:rPr sz="1250" b="1" i="0">
                <a:solidFill>
                  <a:srgbClr val="1F9E8A"/>
                </a:solidFill>
                <a:latin typeface="Segoe UI"/>
              </a:rPr>
              <a:t>•  </a:t>
            </a:r>
            <a:r>
              <a:rPr sz="1250" b="1" i="0">
                <a:solidFill>
                  <a:srgbClr val="0E1A2B"/>
                </a:solidFill>
                <a:latin typeface="Segoe UI"/>
              </a:rPr>
              <a:t>Universal core + archetypes.  </a:t>
            </a:r>
            <a:r>
              <a:rPr sz="1150" b="0" i="0">
                <a:solidFill>
                  <a:srgbClr val="3A4A5E"/>
                </a:solidFill>
                <a:latin typeface="Segoe UI"/>
              </a:rPr>
              <a:t>One core, category-specific interpretation via a 3-stage router (anchor → signal → resolution). Engine v0.4.0.</a:t>
            </a:r>
          </a:p>
        </p:txBody>
      </p:sp>
      <p:pic>
        <p:nvPicPr>
          <p:cNvPr id="16" name="Picture 15" descr="pipeline_band.png"/>
          <p:cNvPicPr>
            <a:picLocks noChangeAspect="1"/>
          </p:cNvPicPr>
          <p:nvPr/>
        </p:nvPicPr>
        <p:blipFill>
          <a:blip r:embed="rId2"/>
          <a:stretch>
            <a:fillRect/>
          </a:stretch>
        </p:blipFill>
        <p:spPr>
          <a:xfrm>
            <a:off x="1050675" y="4828032"/>
            <a:ext cx="10090344" cy="1828800"/>
          </a:xfrm>
          <a:prstGeom prst="rect">
            <a:avLst/>
          </a:prstGeom>
        </p:spPr>
      </p:pic>
      <p:pic>
        <p:nvPicPr>
          <p:cNvPr id="17" name="Picture 16"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8" name="TextBox 17"/>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WHAT WE BUILT · RIGOR INFRASTRUCTURE</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Evidence, confidence and validation are built in — not bolted on</a:t>
            </a:r>
          </a:p>
        </p:txBody>
      </p:sp>
      <p:sp>
        <p:nvSpPr>
          <p:cNvPr id="8" name="TextBox 7"/>
          <p:cNvSpPr txBox="1"/>
          <p:nvPr/>
        </p:nvSpPr>
        <p:spPr>
          <a:xfrm>
            <a:off x="777240" y="1417320"/>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Evidence Registry.  </a:t>
            </a:r>
            <a:r>
              <a:rPr sz="1400" b="0" i="0">
                <a:solidFill>
                  <a:srgbClr val="3A4A5E"/>
                </a:solidFill>
                <a:latin typeface="Segoe UI"/>
              </a:rPr>
              <a:t>20 food findings + 20 guardrails + 20 deferred domains; every rule traces to a catalogued finding, not opinion. Each finding has a tracking id so we can say exactly why a rule exists.</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Confidence system.  </a:t>
            </a:r>
            <a:r>
              <a:rPr sz="1400" b="0" i="0">
                <a:solidFill>
                  <a:srgbClr val="3A4A5E"/>
                </a:solidFill>
                <a:latin typeface="Segoe UI"/>
              </a:rPr>
              <a:t>Three explicit states — verified / partial / insufficient. When the label can't support a score we publish no score at all, rather than fake certainty.</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Validation system.  </a:t>
            </a:r>
            <a:r>
              <a:rPr sz="1400" b="0" i="0">
                <a:solidFill>
                  <a:srgbClr val="3A4A5E"/>
                </a:solidFill>
                <a:latin typeface="Segoe UI"/>
              </a:rPr>
              <a:t>A fixed set of 12 hand-checked reference products plus an automated regression test that re-scores them on every change — so a parsing mistake is caught before it can reach the site.</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Governance.  </a:t>
            </a:r>
            <a:r>
              <a:rPr sz="1400" b="0" i="0">
                <a:solidFill>
                  <a:srgbClr val="3A4A5E"/>
                </a:solidFill>
                <a:latin typeface="Segoe UI"/>
              </a:rPr>
              <a:t>A written constitution: 6-article comparison governance, use-case guardrails, an exception registry for every deliberate deviation.</a:t>
            </a:r>
          </a:p>
        </p:txBody>
      </p:sp>
      <p:pic>
        <p:nvPicPr>
          <p:cNvPr id="9" name="Picture 8" descr="rigor_stack.png"/>
          <p:cNvPicPr>
            <a:picLocks noChangeAspect="1"/>
          </p:cNvPicPr>
          <p:nvPr/>
        </p:nvPicPr>
        <p:blipFill>
          <a:blip r:embed="rId2"/>
          <a:stretch>
            <a:fillRect/>
          </a:stretch>
        </p:blipFill>
        <p:spPr>
          <a:xfrm>
            <a:off x="7315200" y="1481328"/>
            <a:ext cx="4343400" cy="4257221"/>
          </a:xfrm>
          <a:prstGeom prst="rect">
            <a:avLst/>
          </a:prstGeom>
        </p:spPr>
      </p:pic>
      <p:pic>
        <p:nvPicPr>
          <p:cNvPr id="10" name="Picture 9"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1" name="TextBox 10"/>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WHAT WE BUILT · SURFACES &amp; OPERATIONS</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A live platform and an operating model behind it</a:t>
            </a:r>
          </a:p>
        </p:txBody>
      </p:sp>
      <p:sp>
        <p:nvSpPr>
          <p:cNvPr id="8" name="Rectangle 7"/>
          <p:cNvSpPr/>
          <p:nvPr/>
        </p:nvSpPr>
        <p:spPr>
          <a:xfrm>
            <a:off x="77724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472184"/>
            <a:ext cx="4754880" cy="365760"/>
          </a:xfrm>
          <a:prstGeom prst="rect">
            <a:avLst/>
          </a:prstGeom>
          <a:noFill/>
        </p:spPr>
        <p:txBody>
          <a:bodyPr wrap="square" anchor="t">
            <a:spAutoFit/>
          </a:bodyPr>
          <a:lstStyle/>
          <a:p>
            <a:pPr algn="l">
              <a:spcBef>
                <a:spcPts val="0"/>
              </a:spcBef>
              <a:spcAft>
                <a:spcPts val="600"/>
              </a:spcAft>
            </a:pPr>
            <a:r>
              <a:rPr sz="1500" b="1" i="0">
                <a:solidFill>
                  <a:srgbClr val="156B5E"/>
                </a:solidFill>
                <a:latin typeface="Segoe UI"/>
              </a:rPr>
              <a:t>Product surfaces (live)</a:t>
            </a:r>
          </a:p>
        </p:txBody>
      </p:sp>
      <p:sp>
        <p:nvSpPr>
          <p:cNvPr id="11" name="TextBox 10"/>
          <p:cNvSpPr txBox="1"/>
          <p:nvPr/>
        </p:nvSpPr>
        <p:spPr>
          <a:xfrm>
            <a:off x="822960" y="2020824"/>
            <a:ext cx="4937760" cy="4023360"/>
          </a:xfrm>
          <a:prstGeom prst="rect">
            <a:avLst/>
          </a:prstGeom>
          <a:noFill/>
        </p:spPr>
        <p:txBody>
          <a:bodyPr wrap="square" anchor="t">
            <a:spAutoFit/>
          </a:bodyPr>
          <a:lstStyle/>
          <a:p>
            <a:pPr algn="l">
              <a:spcBef>
                <a:spcPts val="0"/>
              </a:spcBef>
              <a:spcAft>
                <a:spcPts val="800"/>
              </a:spcAft>
            </a:pPr>
            <a:r>
              <a:rPr sz="1350" b="1" i="0">
                <a:solidFill>
                  <a:srgbClr val="1F9E8A"/>
                </a:solidFill>
                <a:latin typeface="Segoe UI"/>
              </a:rPr>
              <a:t>•  </a:t>
            </a:r>
            <a:r>
              <a:rPr sz="1350" b="1" i="0">
                <a:solidFill>
                  <a:srgbClr val="0E1A2B"/>
                </a:solidFill>
                <a:latin typeface="Segoe UI"/>
              </a:rPr>
              <a:t>Category framework.  </a:t>
            </a:r>
            <a:r>
              <a:rPr sz="1250" b="0" i="0">
                <a:solidFill>
                  <a:srgbClr val="3A4A5E"/>
                </a:solidFill>
                <a:latin typeface="Segoe UI"/>
              </a:rPr>
              <a:t>Repeatable factory: shelf-map → corpus → score → QA → publish.</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Comparison platform.  </a:t>
            </a:r>
            <a:r>
              <a:rPr sz="1250" b="0" i="0">
                <a:solidFill>
                  <a:srgbClr val="3A4A5E"/>
                </a:solidFill>
                <a:latin typeface="Segoe UI"/>
              </a:rPr>
              <a:t>Live Hebrew RTL pages with grades, verdicts, expandable reasoning.</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External data layer.  </a:t>
            </a:r>
            <a:r>
              <a:rPr sz="1250" b="0" i="0">
                <a:solidFill>
                  <a:srgbClr val="3A4A5E"/>
                </a:solidFill>
                <a:latin typeface="Segoe UI"/>
              </a:rPr>
              <a:t>10 read-only authoritative clients — OFF, gov data, PubMed, DSLD, Tzameret…</a:t>
            </a:r>
          </a:p>
        </p:txBody>
      </p:sp>
      <p:sp>
        <p:nvSpPr>
          <p:cNvPr id="12" name="Rectangle 11"/>
          <p:cNvSpPr/>
          <p:nvPr/>
        </p:nvSpPr>
        <p:spPr>
          <a:xfrm>
            <a:off x="635508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472184"/>
            <a:ext cx="4754880" cy="365760"/>
          </a:xfrm>
          <a:prstGeom prst="rect">
            <a:avLst/>
          </a:prstGeom>
          <a:noFill/>
        </p:spPr>
        <p:txBody>
          <a:bodyPr wrap="square" anchor="t">
            <a:spAutoFit/>
          </a:bodyPr>
          <a:lstStyle/>
          <a:p>
            <a:pPr algn="l">
              <a:spcBef>
                <a:spcPts val="0"/>
              </a:spcBef>
              <a:spcAft>
                <a:spcPts val="600"/>
              </a:spcAft>
            </a:pPr>
            <a:r>
              <a:rPr sz="1500" b="1" i="0">
                <a:solidFill>
                  <a:srgbClr val="156B5E"/>
                </a:solidFill>
                <a:latin typeface="Segoe UI"/>
              </a:rPr>
              <a:t>Operating model</a:t>
            </a:r>
          </a:p>
        </p:txBody>
      </p:sp>
      <p:sp>
        <p:nvSpPr>
          <p:cNvPr id="15" name="TextBox 14"/>
          <p:cNvSpPr txBox="1"/>
          <p:nvPr/>
        </p:nvSpPr>
        <p:spPr>
          <a:xfrm>
            <a:off x="6400800" y="2020824"/>
            <a:ext cx="4937760" cy="4023360"/>
          </a:xfrm>
          <a:prstGeom prst="rect">
            <a:avLst/>
          </a:prstGeom>
          <a:noFill/>
        </p:spPr>
        <p:txBody>
          <a:bodyPr wrap="square" anchor="t">
            <a:spAutoFit/>
          </a:bodyPr>
          <a:lstStyle/>
          <a:p>
            <a:pPr algn="l">
              <a:spcBef>
                <a:spcPts val="0"/>
              </a:spcBef>
              <a:spcAft>
                <a:spcPts val="800"/>
              </a:spcAft>
            </a:pPr>
            <a:r>
              <a:rPr sz="1350" b="1" i="0">
                <a:solidFill>
                  <a:srgbClr val="1F9E8A"/>
                </a:solidFill>
                <a:latin typeface="Segoe UI"/>
              </a:rPr>
              <a:t>•  </a:t>
            </a:r>
            <a:r>
              <a:rPr sz="1350" b="1" i="0">
                <a:solidFill>
                  <a:srgbClr val="0E1A2B"/>
                </a:solidFill>
                <a:latin typeface="Segoe UI"/>
              </a:rPr>
              <a:t>Command Center.  </a:t>
            </a:r>
            <a:r>
              <a:rPr sz="1250" b="0" i="0">
                <a:solidFill>
                  <a:srgbClr val="3A4A5E"/>
                </a:solidFill>
                <a:latin typeface="Segoe UI"/>
              </a:rPr>
              <a:t>Authoritative task registry → derived dashboard; nothing ships untracked.</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Agent OS.  </a:t>
            </a:r>
            <a:r>
              <a:rPr sz="1250" b="0" i="0">
                <a:solidFill>
                  <a:srgbClr val="3A4A5E"/>
                </a:solidFill>
                <a:latin typeface="Segoe UI"/>
              </a:rPr>
              <a:t>Specialist agents (nutrition, data, QA, content) with a verification gate before close.</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Provenance discipline.  </a:t>
            </a:r>
            <a:r>
              <a:rPr sz="1250" b="0" i="0">
                <a:solidFill>
                  <a:srgbClr val="3A4A5E"/>
                </a:solidFill>
                <a:latin typeface="Segoe UI"/>
              </a:rPr>
              <a:t>Frozen invariants, dated rulings, no silent score changes.</a:t>
            </a:r>
          </a:p>
        </p:txBody>
      </p:sp>
      <p:sp>
        <p:nvSpPr>
          <p:cNvPr id="16" name="Rectangle 15"/>
          <p:cNvSpPr/>
          <p:nvPr/>
        </p:nvSpPr>
        <p:spPr>
          <a:xfrm>
            <a:off x="0" y="6126480"/>
            <a:ext cx="12191695" cy="73152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12648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236208"/>
            <a:ext cx="10607040" cy="548640"/>
          </a:xfrm>
          <a:prstGeom prst="rect">
            <a:avLst/>
          </a:prstGeom>
          <a:noFill/>
        </p:spPr>
        <p:txBody>
          <a:bodyPr wrap="square" anchor="t">
            <a:spAutoFit/>
          </a:bodyPr>
          <a:lstStyle/>
          <a:p>
            <a:pPr algn="l">
              <a:spcBef>
                <a:spcPts val="0"/>
              </a:spcBef>
              <a:spcAft>
                <a:spcPts val="600"/>
              </a:spcAft>
            </a:pPr>
            <a:r>
              <a:rPr sz="1100" b="1" i="0">
                <a:solidFill>
                  <a:srgbClr val="156B5E"/>
                </a:solidFill>
                <a:latin typeface="Segoe UI"/>
              </a:rPr>
              <a:t>VISUAL  </a:t>
            </a:r>
            <a:r>
              <a:rPr sz="1200" b="0" i="1">
                <a:solidFill>
                  <a:srgbClr val="3A4A5E"/>
                </a:solidFill>
                <a:latin typeface="Segoe UI"/>
              </a:rPr>
              <a:t>Screenshot of a live comparison page beside a Command Center dashboard view.</a:t>
            </a:r>
          </a:p>
        </p:txBody>
      </p:sp>
      <p:pic>
        <p:nvPicPr>
          <p:cNvPr id="19" name="Picture 18" descr="logo_light.png"/>
          <p:cNvPicPr>
            <a:picLocks noChangeAspect="1"/>
          </p:cNvPicPr>
          <p:nvPr/>
        </p:nvPicPr>
        <p:blipFill>
          <a:blip r:embed="rId2"/>
          <a:stretch>
            <a:fillRect/>
          </a:stretch>
        </p:blipFill>
        <p:spPr>
          <a:xfrm>
            <a:off x="10222992" y="274320"/>
            <a:ext cx="1554480" cy="560459"/>
          </a:xfrm>
          <a:prstGeom prst="rect">
            <a:avLst/>
          </a:prstGeom>
        </p:spPr>
      </p:pic>
      <p:sp>
        <p:nvSpPr>
          <p:cNvPr id="20" name="TextBox 19"/>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WHAT WE BUILT · THE MOAT</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Why this is hard to replicate</a:t>
            </a:r>
          </a:p>
        </p:txBody>
      </p:sp>
      <p:sp>
        <p:nvSpPr>
          <p:cNvPr id="8" name="TextBox 7"/>
          <p:cNvSpPr txBox="1"/>
          <p:nvPr/>
        </p:nvSpPr>
        <p:spPr>
          <a:xfrm>
            <a:off x="777240" y="1417320"/>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It's not the model — it's the accumulated judgement.  </a:t>
            </a:r>
            <a:r>
              <a:rPr sz="1400" b="0" i="0">
                <a:solidFill>
                  <a:srgbClr val="3A4A5E"/>
                </a:solidFill>
                <a:latin typeface="Segoe UI"/>
              </a:rPr>
              <a:t>Every category adds calibrated rules, evidence links and stress-tested edge cases that don't transfer for free.</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Real-shelf data is messy and earned.  </a:t>
            </a:r>
            <a:r>
              <a:rPr sz="1400" b="0" i="0">
                <a:solidFill>
                  <a:srgbClr val="3A4A5E"/>
                </a:solidFill>
                <a:latin typeface="Segoe UI"/>
              </a:rPr>
              <a:t>Parsing real Israeli labels (and surviving their traps) took real failures to fix — e.g. the fat-overwrite bug below.</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Governance compounds.  </a:t>
            </a:r>
            <a:r>
              <a:rPr sz="1400" b="0" i="0">
                <a:solidFill>
                  <a:srgbClr val="3A4A5E"/>
                </a:solidFill>
                <a:latin typeface="Segoe UI"/>
              </a:rPr>
              <a:t>An exception registry and frozen invariants mean the system gets MORE trustworthy over time, not noisier.</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Honesty is a feature competitors can't fake late.  </a:t>
            </a:r>
            <a:r>
              <a:rPr sz="1400" b="0" i="0">
                <a:solidFill>
                  <a:srgbClr val="3A4A5E"/>
                </a:solidFill>
                <a:latin typeface="Segoe UI"/>
              </a:rPr>
              <a:t>‘We score this null because we can't verify it’ is a trust posture you build from day one.</a:t>
            </a:r>
          </a:p>
        </p:txBody>
      </p:sp>
      <p:pic>
        <p:nvPicPr>
          <p:cNvPr id="9" name="Picture 8" descr="moat_flywheel.png"/>
          <p:cNvPicPr>
            <a:picLocks noChangeAspect="1"/>
          </p:cNvPicPr>
          <p:nvPr/>
        </p:nvPicPr>
        <p:blipFill>
          <a:blip r:embed="rId2"/>
          <a:stretch>
            <a:fillRect/>
          </a:stretch>
        </p:blipFill>
        <p:spPr>
          <a:xfrm>
            <a:off x="7315200" y="1481328"/>
            <a:ext cx="4343400" cy="4257221"/>
          </a:xfrm>
          <a:prstGeom prst="rect">
            <a:avLst/>
          </a:prstGeom>
        </p:spPr>
      </p:pic>
      <p:pic>
        <p:nvPicPr>
          <p:cNvPr id="10" name="Picture 9"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1" name="TextBox 10"/>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36576"/>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15600" cy="548640"/>
          </a:xfrm>
          <a:prstGeom prst="rect">
            <a:avLst/>
          </a:prstGeom>
          <a:noFill/>
        </p:spPr>
        <p:txBody>
          <a:bodyPr wrap="square" anchor="t">
            <a:spAutoFit/>
          </a:bodyPr>
          <a:lstStyle/>
          <a:p>
            <a:pPr algn="l">
              <a:spcBef>
                <a:spcPts val="0"/>
              </a:spcBef>
              <a:spcAft>
                <a:spcPts val="600"/>
              </a:spcAft>
            </a:pPr>
            <a:r>
              <a:rPr sz="1800" b="1" i="0">
                <a:solidFill>
                  <a:srgbClr val="1F9E8A"/>
                </a:solidFill>
                <a:latin typeface="Segoe UI"/>
              </a:rPr>
              <a:t>SECTION 4</a:t>
            </a:r>
          </a:p>
        </p:txBody>
      </p:sp>
      <p:sp>
        <p:nvSpPr>
          <p:cNvPr id="5" name="TextBox 4"/>
          <p:cNvSpPr txBox="1"/>
          <p:nvPr/>
        </p:nvSpPr>
        <p:spPr>
          <a:xfrm>
            <a:off x="777240" y="2880360"/>
            <a:ext cx="10607040" cy="2194560"/>
          </a:xfrm>
          <a:prstGeom prst="rect">
            <a:avLst/>
          </a:prstGeom>
          <a:noFill/>
        </p:spPr>
        <p:txBody>
          <a:bodyPr wrap="square" anchor="t">
            <a:spAutoFit/>
          </a:bodyPr>
          <a:lstStyle/>
          <a:p>
            <a:pPr algn="l">
              <a:spcBef>
                <a:spcPts val="0"/>
              </a:spcBef>
              <a:spcAft>
                <a:spcPts val="1400"/>
              </a:spcAft>
            </a:pPr>
            <a:r>
              <a:rPr sz="4000" b="1" i="0">
                <a:solidFill>
                  <a:srgbClr val="FFFFFF"/>
                </a:solidFill>
                <a:latin typeface="Segoe UI"/>
              </a:rPr>
              <a:t>Scientific Depth</a:t>
            </a:r>
          </a:p>
          <a:p>
            <a:pPr algn="l">
              <a:spcBef>
                <a:spcPts val="0"/>
              </a:spcBef>
              <a:spcAft>
                <a:spcPts val="1400"/>
              </a:spcAft>
            </a:pPr>
            <a:r>
              <a:rPr sz="1900" b="0" i="1">
                <a:solidFill>
                  <a:srgbClr val="B8C4D0"/>
                </a:solidFill>
                <a:latin typeface="Segoe UI"/>
              </a:rPr>
              <a:t>The methodology a nutrition scientist would actually respect — shown through real rulings, not slogans.</a:t>
            </a:r>
          </a:p>
        </p:txBody>
      </p:sp>
      <p:pic>
        <p:nvPicPr>
          <p:cNvPr id="6" name="Picture 5" descr="logo_dark.png"/>
          <p:cNvPicPr>
            <a:picLocks noChangeAspect="1"/>
          </p:cNvPicPr>
          <p:nvPr/>
        </p:nvPicPr>
        <p:blipFill>
          <a:blip r:embed="rId2"/>
          <a:stretch>
            <a:fillRect/>
          </a:stretch>
        </p:blipFill>
        <p:spPr>
          <a:xfrm>
            <a:off x="10222992" y="274320"/>
            <a:ext cx="1554480" cy="560459"/>
          </a:xfrm>
          <a:prstGeom prst="rect">
            <a:avLst/>
          </a:prstGeom>
        </p:spPr>
      </p:pic>
      <p:sp>
        <p:nvSpPr>
          <p:cNvPr id="7" name="TextBox 6"/>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SCIENTIFIC DEPTH · PRINCIPLES</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The methodology, stated plainly</a:t>
            </a:r>
          </a:p>
        </p:txBody>
      </p:sp>
      <p:sp>
        <p:nvSpPr>
          <p:cNvPr id="8" name="TextBox 7"/>
          <p:cNvSpPr txBox="1"/>
          <p:nvPr/>
        </p:nvSpPr>
        <p:spPr>
          <a:xfrm>
            <a:off x="777240" y="1417320"/>
            <a:ext cx="1060704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Evidence-based.  </a:t>
            </a:r>
            <a:r>
              <a:rPr sz="1400" b="0" i="0">
                <a:solidFill>
                  <a:srgbClr val="3A4A5E"/>
                </a:solidFill>
                <a:latin typeface="Segoe UI"/>
              </a:rPr>
              <a:t>Rules derive from a registry of findings, each with an id and rationale — challengeable, versioned.</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Label-observability.  </a:t>
            </a:r>
            <a:r>
              <a:rPr sz="1400" b="0" i="0">
                <a:solidFill>
                  <a:srgbClr val="3A4A5E"/>
                </a:solidFill>
                <a:latin typeface="Segoe UI"/>
              </a:rPr>
              <a:t>We only score what the label actually lets us observe. No invented values; unverifiable → insufficient.</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Food reality over opinion.  </a:t>
            </a:r>
            <a:r>
              <a:rPr sz="1400" b="0" i="0">
                <a:solidFill>
                  <a:srgbClr val="3A4A5E"/>
                </a:solidFill>
                <a:latin typeface="Segoe UI"/>
              </a:rPr>
              <a:t>We interpret the food as engineered, not the marketing story around it.</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Processing read with nuance.  </a:t>
            </a:r>
            <a:r>
              <a:rPr sz="1400" b="0" i="0">
                <a:solidFill>
                  <a:srgbClr val="3A4A5E"/>
                </a:solidFill>
                <a:latin typeface="Segoe UI"/>
              </a:rPr>
              <a:t>NOVA-aware but not NOVA-blind; named additives and matrix effects reasoned about, not just counted.</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Category-specific calibration.  </a:t>
            </a:r>
            <a:r>
              <a:rPr sz="1400" b="0" i="0">
                <a:solidFill>
                  <a:srgbClr val="3A4A5E"/>
                </a:solidFill>
                <a:latin typeface="Segoe UI"/>
              </a:rPr>
              <a:t>Protein, fat, fortification all judged category-relative — a yogurt rule never touches bread.</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Stress-tested.  </a:t>
            </a:r>
            <a:r>
              <a:rPr sz="1400" b="0" i="0">
                <a:solidFill>
                  <a:srgbClr val="3A4A5E"/>
                </a:solidFill>
                <a:latin typeface="Segoe UI"/>
              </a:rPr>
              <a:t>Every category passes an adversarial governance audit before it can go live.</a:t>
            </a:r>
          </a:p>
        </p:txBody>
      </p:sp>
      <p:sp>
        <p:nvSpPr>
          <p:cNvPr id="9" name="Rectangle 8"/>
          <p:cNvSpPr/>
          <p:nvPr/>
        </p:nvSpPr>
        <p:spPr>
          <a:xfrm>
            <a:off x="0" y="6126480"/>
            <a:ext cx="12191695" cy="73152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12648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6236208"/>
            <a:ext cx="10607040" cy="548640"/>
          </a:xfrm>
          <a:prstGeom prst="rect">
            <a:avLst/>
          </a:prstGeom>
          <a:noFill/>
        </p:spPr>
        <p:txBody>
          <a:bodyPr wrap="square" anchor="t">
            <a:spAutoFit/>
          </a:bodyPr>
          <a:lstStyle/>
          <a:p>
            <a:pPr algn="l">
              <a:spcBef>
                <a:spcPts val="0"/>
              </a:spcBef>
              <a:spcAft>
                <a:spcPts val="600"/>
              </a:spcAft>
            </a:pPr>
            <a:r>
              <a:rPr sz="1100" b="1" i="0">
                <a:solidFill>
                  <a:srgbClr val="156B5E"/>
                </a:solidFill>
                <a:latin typeface="Segoe UI"/>
              </a:rPr>
              <a:t>VISUAL  </a:t>
            </a:r>
            <a:r>
              <a:rPr sz="1200" b="0" i="1">
                <a:solidFill>
                  <a:srgbClr val="3A4A5E"/>
                </a:solidFill>
                <a:latin typeface="Segoe UI"/>
              </a:rPr>
              <a:t>Six-principle hexagon, each tile linking to the real example slide that proves it.</a:t>
            </a:r>
          </a:p>
        </p:txBody>
      </p:sp>
      <p:pic>
        <p:nvPicPr>
          <p:cNvPr id="12" name="Picture 11" descr="logo_light.png"/>
          <p:cNvPicPr>
            <a:picLocks noChangeAspect="1"/>
          </p:cNvPicPr>
          <p:nvPr/>
        </p:nvPicPr>
        <p:blipFill>
          <a:blip r:embed="rId2"/>
          <a:stretch>
            <a:fillRect/>
          </a:stretch>
        </p:blipFill>
        <p:spPr>
          <a:xfrm>
            <a:off x="10222992" y="274320"/>
            <a:ext cx="1554480" cy="560459"/>
          </a:xfrm>
          <a:prstGeom prst="rect">
            <a:avLst/>
          </a:prstGeom>
        </p:spPr>
      </p:pic>
      <p:sp>
        <p:nvSpPr>
          <p:cNvPr id="13" name="TextBox 12"/>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SCIENTIFIC DEPTH · REAL RULING 1</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Hummus — defining the prepared/raw boundary correctly</a:t>
            </a:r>
          </a:p>
        </p:txBody>
      </p:sp>
      <p:sp>
        <p:nvSpPr>
          <p:cNvPr id="8" name="TextBox 7"/>
          <p:cNvSpPr txBox="1"/>
          <p:nvPr/>
        </p:nvSpPr>
        <p:spPr>
          <a:xfrm>
            <a:off x="777240" y="1417320"/>
            <a:ext cx="617220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A naïve engine splits hummus by protein or by the word ‘סלט’. Both are wrong.</a:t>
            </a:r>
          </a:p>
        </p:txBody>
      </p:sp>
      <p:sp>
        <p:nvSpPr>
          <p:cNvPr id="9" name="TextBox 8"/>
          <p:cNvSpPr txBox="1"/>
          <p:nvPr/>
        </p:nvSpPr>
        <p:spPr>
          <a:xfrm>
            <a:off x="777240" y="2020824"/>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The real boundary is tahini + sodium + energy density.  </a:t>
            </a:r>
            <a:r>
              <a:rPr sz="1400" b="0" i="0">
                <a:solidFill>
                  <a:srgbClr val="3A4A5E"/>
                </a:solidFill>
                <a:latin typeface="Segoe UI"/>
              </a:rPr>
              <a:t>Not protein, never the label noun. Tahini-based salads are correctly kept in scope.</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Result: a defensible 64-product comparison.  </a:t>
            </a:r>
            <a:r>
              <a:rPr sz="1400" b="0" i="0">
                <a:solidFill>
                  <a:srgbClr val="3A4A5E"/>
                </a:solidFill>
                <a:latin typeface="Segoe UI"/>
              </a:rPr>
              <a:t>Recalibration moved the distribution toward truth (B-tier widened as cultures/quality were credited correctly).</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Why it matters scientifically.  </a:t>
            </a:r>
            <a:r>
              <a:rPr sz="1400" b="0" i="0">
                <a:solidFill>
                  <a:srgbClr val="3A4A5E"/>
                </a:solidFill>
                <a:latin typeface="Segoe UI"/>
              </a:rPr>
              <a:t>It shows the engine reasons about food structure, not keywords.</a:t>
            </a:r>
          </a:p>
        </p:txBody>
      </p:sp>
      <p:pic>
        <p:nvPicPr>
          <p:cNvPr id="10" name="Picture 9" descr="hummus_boundary.png"/>
          <p:cNvPicPr>
            <a:picLocks noChangeAspect="1"/>
          </p:cNvPicPr>
          <p:nvPr/>
        </p:nvPicPr>
        <p:blipFill>
          <a:blip r:embed="rId2"/>
          <a:stretch>
            <a:fillRect/>
          </a:stretch>
        </p:blipFill>
        <p:spPr>
          <a:xfrm>
            <a:off x="7315200" y="1481328"/>
            <a:ext cx="4343400" cy="4111752"/>
          </a:xfrm>
          <a:prstGeom prst="rect">
            <a:avLst/>
          </a:prstGeom>
        </p:spPr>
      </p:pic>
      <p:pic>
        <p:nvPicPr>
          <p:cNvPr id="11" name="Picture 10"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2" name="TextBox 11"/>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SCIENTIFIC DEPTH · REAL RULING 2</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Yogurts — crediting live cultures, and refusing to overclaim</a:t>
            </a:r>
          </a:p>
        </p:txBody>
      </p:sp>
      <p:sp>
        <p:nvSpPr>
          <p:cNvPr id="8" name="TextBox 7"/>
          <p:cNvSpPr txBox="1"/>
          <p:nvPr/>
        </p:nvSpPr>
        <p:spPr>
          <a:xfrm>
            <a:off x="777240" y="1417320"/>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We found a real bug in our own pipeline.  </a:t>
            </a:r>
            <a:r>
              <a:rPr sz="1400" b="0" i="0">
                <a:solidFill>
                  <a:srgbClr val="3A4A5E"/>
                </a:solidFill>
                <a:latin typeface="Segoe UI"/>
              </a:rPr>
              <a:t>Live cultures were being detected when we read the label, but the scoring step looked at a different list and never counted them — 49 products had cultures detected, 0 credited.</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We fixed it at the source.  </a:t>
            </a:r>
            <a:r>
              <a:rPr sz="1400" b="0" i="0">
                <a:solidFill>
                  <a:srgbClr val="3A4A5E"/>
                </a:solidFill>
                <a:latin typeface="Segoe UI"/>
              </a:rPr>
              <a:t>We made the scorer read the same culture list; 12 products correctly moved from C up to B once their live cultures actually counted.</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Then we held the line.  </a:t>
            </a:r>
            <a:r>
              <a:rPr sz="1400" b="0" i="0">
                <a:solidFill>
                  <a:srgbClr val="3A4A5E"/>
                </a:solidFill>
                <a:latin typeface="Segoe UI"/>
              </a:rPr>
              <a:t>Even after the fix, no yogurt reached an A. A score of 78.7 (a high B) is the honest ceiling — the cleanest candidates simply don't publish enough on their label to justify more.</a:t>
            </a:r>
          </a:p>
        </p:txBody>
      </p:sp>
      <p:pic>
        <p:nvPicPr>
          <p:cNvPr id="9" name="Picture 8" descr="yogurt_grades.png"/>
          <p:cNvPicPr>
            <a:picLocks noChangeAspect="1"/>
          </p:cNvPicPr>
          <p:nvPr/>
        </p:nvPicPr>
        <p:blipFill>
          <a:blip r:embed="rId2"/>
          <a:stretch>
            <a:fillRect/>
          </a:stretch>
        </p:blipFill>
        <p:spPr>
          <a:xfrm>
            <a:off x="7315200" y="1481328"/>
            <a:ext cx="4343400" cy="4187722"/>
          </a:xfrm>
          <a:prstGeom prst="rect">
            <a:avLst/>
          </a:prstGeom>
        </p:spPr>
      </p:pic>
      <p:pic>
        <p:nvPicPr>
          <p:cNvPr id="10" name="Picture 9"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1" name="TextBox 10"/>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36576"/>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15600" cy="548640"/>
          </a:xfrm>
          <a:prstGeom prst="rect">
            <a:avLst/>
          </a:prstGeom>
          <a:noFill/>
        </p:spPr>
        <p:txBody>
          <a:bodyPr wrap="square" anchor="t">
            <a:spAutoFit/>
          </a:bodyPr>
          <a:lstStyle/>
          <a:p>
            <a:pPr algn="l">
              <a:spcBef>
                <a:spcPts val="0"/>
              </a:spcBef>
              <a:spcAft>
                <a:spcPts val="600"/>
              </a:spcAft>
            </a:pPr>
            <a:r>
              <a:rPr sz="1800" b="1" i="0">
                <a:solidFill>
                  <a:srgbClr val="1F9E8A"/>
                </a:solidFill>
                <a:latin typeface="Segoe UI"/>
              </a:rPr>
              <a:t>SECTION 5</a:t>
            </a:r>
          </a:p>
        </p:txBody>
      </p:sp>
      <p:sp>
        <p:nvSpPr>
          <p:cNvPr id="5" name="TextBox 4"/>
          <p:cNvSpPr txBox="1"/>
          <p:nvPr/>
        </p:nvSpPr>
        <p:spPr>
          <a:xfrm>
            <a:off x="777240" y="2880360"/>
            <a:ext cx="10607040" cy="2194560"/>
          </a:xfrm>
          <a:prstGeom prst="rect">
            <a:avLst/>
          </a:prstGeom>
          <a:noFill/>
        </p:spPr>
        <p:txBody>
          <a:bodyPr wrap="square" anchor="t">
            <a:spAutoFit/>
          </a:bodyPr>
          <a:lstStyle/>
          <a:p>
            <a:pPr algn="l">
              <a:spcBef>
                <a:spcPts val="0"/>
              </a:spcBef>
              <a:spcAft>
                <a:spcPts val="1400"/>
              </a:spcAft>
            </a:pPr>
            <a:r>
              <a:rPr sz="4000" b="1" i="0">
                <a:solidFill>
                  <a:srgbClr val="FFFFFF"/>
                </a:solidFill>
                <a:latin typeface="Segoe UI"/>
              </a:rPr>
              <a:t>Current Progress</a:t>
            </a:r>
          </a:p>
          <a:p>
            <a:pPr algn="l">
              <a:spcBef>
                <a:spcPts val="0"/>
              </a:spcBef>
              <a:spcAft>
                <a:spcPts val="1400"/>
              </a:spcAft>
            </a:pPr>
            <a:r>
              <a:rPr sz="1900" b="0" i="1">
                <a:solidFill>
                  <a:srgbClr val="B8C4D0"/>
                </a:solidFill>
                <a:latin typeface="Segoe UI"/>
              </a:rPr>
              <a:t>Concrete output to date — categories live, products scored, lessons banked.</a:t>
            </a:r>
          </a:p>
        </p:txBody>
      </p:sp>
      <p:pic>
        <p:nvPicPr>
          <p:cNvPr id="6" name="Picture 5" descr="logo_dark.png"/>
          <p:cNvPicPr>
            <a:picLocks noChangeAspect="1"/>
          </p:cNvPicPr>
          <p:nvPr/>
        </p:nvPicPr>
        <p:blipFill>
          <a:blip r:embed="rId2"/>
          <a:stretch>
            <a:fillRect/>
          </a:stretch>
        </p:blipFill>
        <p:spPr>
          <a:xfrm>
            <a:off x="10222992" y="274320"/>
            <a:ext cx="1554480" cy="560459"/>
          </a:xfrm>
          <a:prstGeom prst="rect">
            <a:avLst/>
          </a:prstGeom>
        </p:spPr>
      </p:pic>
      <p:sp>
        <p:nvSpPr>
          <p:cNvPr id="7" name="TextBox 6"/>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CURRENT PROGRESS · BY THE NUMBERS</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What's live today</a:t>
            </a:r>
          </a:p>
        </p:txBody>
      </p:sp>
      <p:sp>
        <p:nvSpPr>
          <p:cNvPr id="8" name="TextBox 7"/>
          <p:cNvSpPr txBox="1"/>
          <p:nvPr/>
        </p:nvSpPr>
        <p:spPr>
          <a:xfrm>
            <a:off x="777240" y="1417320"/>
            <a:ext cx="617220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6 live categories · 250+ curated scored products on the real shelf · 10 authoritative external data clients (live-verified).</a:t>
            </a:r>
          </a:p>
        </p:txBody>
      </p:sp>
      <p:sp>
        <p:nvSpPr>
          <p:cNvPr id="9" name="TextBox 8"/>
          <p:cNvSpPr txBox="1"/>
          <p:nvPr/>
        </p:nvSpPr>
        <p:spPr>
          <a:xfrm>
            <a:off x="777240" y="2020824"/>
            <a:ext cx="6172200" cy="4572000"/>
          </a:xfrm>
          <a:prstGeom prst="rect">
            <a:avLst/>
          </a:prstGeom>
          <a:noFill/>
        </p:spPr>
        <p:txBody>
          <a:bodyPr wrap="square" anchor="t">
            <a:spAutoFit/>
          </a:bodyPr>
          <a:lstStyle/>
          <a:p>
            <a:pPr algn="l">
              <a:spcBef>
                <a:spcPts val="0"/>
              </a:spcBef>
              <a:spcAft>
                <a:spcPts val="1100"/>
              </a:spcAft>
            </a:pPr>
            <a:r>
              <a:rPr sz="1500" b="1" i="0">
                <a:solidFill>
                  <a:srgbClr val="1F9E8A"/>
                </a:solidFill>
                <a:latin typeface="Segoe UI"/>
              </a:rPr>
              <a:t>▸  </a:t>
            </a:r>
            <a:r>
              <a:rPr sz="1500" b="1" i="0">
                <a:solidFill>
                  <a:srgbClr val="0E1A2B"/>
                </a:solidFill>
                <a:latin typeface="Segoe UI"/>
              </a:rPr>
              <a:t>Per category, end-to-end.  </a:t>
            </a:r>
            <a:r>
              <a:rPr sz="1400" b="0" i="0">
                <a:solidFill>
                  <a:srgbClr val="3A4A5E"/>
                </a:solidFill>
                <a:latin typeface="Segoe UI"/>
              </a:rPr>
              <a:t>bread 24 · cheese ~52 · hummus 64 · dairy-desserts 84 · bars 18 · yogurt 11 — each scraped, scored, QA'd, published.</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Funnels are honest.  </a:t>
            </a:r>
            <a:r>
              <a:rPr sz="1400" b="0" i="0">
                <a:solidFill>
                  <a:srgbClr val="3A4A5E"/>
                </a:solidFill>
                <a:latin typeface="Segoe UI"/>
              </a:rPr>
              <a:t>bread: 256 scanned → 81 scored → 31 curated; maadanim: 200 scraped → 169 scored. We publish the defensible subset, not everything.</a:t>
            </a:r>
          </a:p>
          <a:p>
            <a:pPr algn="l">
              <a:spcBef>
                <a:spcPts val="0"/>
              </a:spcBef>
              <a:spcAft>
                <a:spcPts val="1100"/>
              </a:spcAft>
            </a:pPr>
            <a:r>
              <a:rPr sz="1500" b="1" i="0">
                <a:solidFill>
                  <a:srgbClr val="1F9E8A"/>
                </a:solidFill>
                <a:latin typeface="Segoe UI"/>
              </a:rPr>
              <a:t>▸  </a:t>
            </a:r>
            <a:r>
              <a:rPr sz="1500" b="1" i="0">
                <a:solidFill>
                  <a:srgbClr val="0E1A2B"/>
                </a:solidFill>
                <a:latin typeface="Segoe UI"/>
              </a:rPr>
              <a:t>Next engine in flight.  </a:t>
            </a:r>
            <a:r>
              <a:rPr sz="1400" b="0" i="0">
                <a:solidFill>
                  <a:srgbClr val="3A4A5E"/>
                </a:solidFill>
                <a:latin typeface="Segoe UI"/>
              </a:rPr>
              <a:t>A supplement-intelligence engine (SIE) — sibling to BSIP2 — is in methodology phase.</a:t>
            </a:r>
          </a:p>
        </p:txBody>
      </p:sp>
      <p:pic>
        <p:nvPicPr>
          <p:cNvPr id="10" name="Picture 9" descr="progress_grades.png"/>
          <p:cNvPicPr>
            <a:picLocks noChangeAspect="1"/>
          </p:cNvPicPr>
          <p:nvPr/>
        </p:nvPicPr>
        <p:blipFill>
          <a:blip r:embed="rId2"/>
          <a:stretch>
            <a:fillRect/>
          </a:stretch>
        </p:blipFill>
        <p:spPr>
          <a:xfrm>
            <a:off x="7315200" y="1481328"/>
            <a:ext cx="4343400" cy="4366751"/>
          </a:xfrm>
          <a:prstGeom prst="rect">
            <a:avLst/>
          </a:prstGeom>
        </p:spPr>
      </p:pic>
      <p:pic>
        <p:nvPicPr>
          <p:cNvPr id="11" name="Picture 10"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2" name="TextBox 11"/>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CURRENT PROGRESS · MILESTONES</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Milestones and lessons banked</a:t>
            </a:r>
          </a:p>
        </p:txBody>
      </p:sp>
      <p:sp>
        <p:nvSpPr>
          <p:cNvPr id="8" name="Rectangle 7"/>
          <p:cNvSpPr/>
          <p:nvPr/>
        </p:nvSpPr>
        <p:spPr>
          <a:xfrm>
            <a:off x="77724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472184"/>
            <a:ext cx="4754880" cy="365760"/>
          </a:xfrm>
          <a:prstGeom prst="rect">
            <a:avLst/>
          </a:prstGeom>
          <a:noFill/>
        </p:spPr>
        <p:txBody>
          <a:bodyPr wrap="square" anchor="t">
            <a:spAutoFit/>
          </a:bodyPr>
          <a:lstStyle/>
          <a:p>
            <a:pPr algn="l">
              <a:spcBef>
                <a:spcPts val="0"/>
              </a:spcBef>
              <a:spcAft>
                <a:spcPts val="600"/>
              </a:spcAft>
            </a:pPr>
            <a:r>
              <a:rPr sz="1500" b="1" i="0">
                <a:solidFill>
                  <a:srgbClr val="156B5E"/>
                </a:solidFill>
                <a:latin typeface="Segoe UI"/>
              </a:rPr>
              <a:t>Milestones</a:t>
            </a:r>
          </a:p>
        </p:txBody>
      </p:sp>
      <p:sp>
        <p:nvSpPr>
          <p:cNvPr id="11" name="TextBox 10"/>
          <p:cNvSpPr txBox="1"/>
          <p:nvPr/>
        </p:nvSpPr>
        <p:spPr>
          <a:xfrm>
            <a:off x="822960" y="2020824"/>
            <a:ext cx="4937760" cy="4023360"/>
          </a:xfrm>
          <a:prstGeom prst="rect">
            <a:avLst/>
          </a:prstGeom>
          <a:noFill/>
        </p:spPr>
        <p:txBody>
          <a:bodyPr wrap="square" anchor="t">
            <a:spAutoFit/>
          </a:bodyPr>
          <a:lstStyle/>
          <a:p>
            <a:pPr algn="l">
              <a:spcBef>
                <a:spcPts val="0"/>
              </a:spcBef>
              <a:spcAft>
                <a:spcPts val="800"/>
              </a:spcAft>
            </a:pPr>
            <a:r>
              <a:rPr sz="1350" b="1" i="0">
                <a:solidFill>
                  <a:srgbClr val="1F9E8A"/>
                </a:solidFill>
                <a:latin typeface="Segoe UI"/>
              </a:rPr>
              <a:t>•  </a:t>
            </a:r>
            <a:r>
              <a:rPr sz="1350" b="0" i="0">
                <a:solidFill>
                  <a:srgbClr val="0E1A2B"/>
                </a:solidFill>
                <a:latin typeface="Segoe UI"/>
              </a:rPr>
              <a:t>Repeatable category factory proven across 6 shelves</a:t>
            </a:r>
          </a:p>
          <a:p>
            <a:pPr algn="l">
              <a:spcBef>
                <a:spcPts val="0"/>
              </a:spcBef>
              <a:spcAft>
                <a:spcPts val="800"/>
              </a:spcAft>
            </a:pPr>
            <a:r>
              <a:rPr sz="1350" b="1" i="0">
                <a:solidFill>
                  <a:srgbClr val="1F9E8A"/>
                </a:solidFill>
                <a:latin typeface="Segoe UI"/>
              </a:rPr>
              <a:t>•  </a:t>
            </a:r>
            <a:r>
              <a:rPr sz="1350" b="0" i="0">
                <a:solidFill>
                  <a:srgbClr val="0E1A2B"/>
                </a:solidFill>
                <a:latin typeface="Segoe UI"/>
              </a:rPr>
              <a:t>Real-retailer ingestion with raw-source replay</a:t>
            </a:r>
          </a:p>
          <a:p>
            <a:pPr algn="l">
              <a:spcBef>
                <a:spcPts val="0"/>
              </a:spcBef>
              <a:spcAft>
                <a:spcPts val="800"/>
              </a:spcAft>
            </a:pPr>
            <a:r>
              <a:rPr sz="1350" b="1" i="0">
                <a:solidFill>
                  <a:srgbClr val="1F9E8A"/>
                </a:solidFill>
                <a:latin typeface="Segoe UI"/>
              </a:rPr>
              <a:t>•  </a:t>
            </a:r>
            <a:r>
              <a:rPr sz="1350" b="0" i="0">
                <a:solidFill>
                  <a:srgbClr val="0E1A2B"/>
                </a:solidFill>
                <a:latin typeface="Segoe UI"/>
              </a:rPr>
              <a:t>Evidence registry + governance constitution in force</a:t>
            </a:r>
          </a:p>
          <a:p>
            <a:pPr algn="l">
              <a:spcBef>
                <a:spcPts val="0"/>
              </a:spcBef>
              <a:spcAft>
                <a:spcPts val="800"/>
              </a:spcAft>
            </a:pPr>
            <a:r>
              <a:rPr sz="1350" b="1" i="0">
                <a:solidFill>
                  <a:srgbClr val="1F9E8A"/>
                </a:solidFill>
                <a:latin typeface="Segoe UI"/>
              </a:rPr>
              <a:t>•  </a:t>
            </a:r>
            <a:r>
              <a:rPr sz="1350" b="0" i="0">
                <a:solidFill>
                  <a:srgbClr val="0E1A2B"/>
                </a:solidFill>
                <a:latin typeface="Segoe UI"/>
              </a:rPr>
              <a:t>Command Center + agent operating model running daily</a:t>
            </a:r>
          </a:p>
          <a:p>
            <a:pPr algn="l">
              <a:spcBef>
                <a:spcPts val="0"/>
              </a:spcBef>
              <a:spcAft>
                <a:spcPts val="800"/>
              </a:spcAft>
            </a:pPr>
            <a:r>
              <a:rPr sz="1350" b="1" i="0">
                <a:solidFill>
                  <a:srgbClr val="1F9E8A"/>
                </a:solidFill>
                <a:latin typeface="Segoe UI"/>
              </a:rPr>
              <a:t>•  </a:t>
            </a:r>
            <a:r>
              <a:rPr sz="1350" b="0" i="0">
                <a:solidFill>
                  <a:srgbClr val="0E1A2B"/>
                </a:solidFill>
                <a:latin typeface="Segoe UI"/>
              </a:rPr>
              <a:t>10-client external evidence layer live-verified (Jun 2026)</a:t>
            </a:r>
          </a:p>
        </p:txBody>
      </p:sp>
      <p:sp>
        <p:nvSpPr>
          <p:cNvPr id="12" name="Rectangle 11"/>
          <p:cNvSpPr/>
          <p:nvPr/>
        </p:nvSpPr>
        <p:spPr>
          <a:xfrm>
            <a:off x="6355080" y="1417320"/>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417320"/>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472184"/>
            <a:ext cx="4754880" cy="365760"/>
          </a:xfrm>
          <a:prstGeom prst="rect">
            <a:avLst/>
          </a:prstGeom>
          <a:noFill/>
        </p:spPr>
        <p:txBody>
          <a:bodyPr wrap="square" anchor="t">
            <a:spAutoFit/>
          </a:bodyPr>
          <a:lstStyle/>
          <a:p>
            <a:pPr algn="l">
              <a:spcBef>
                <a:spcPts val="0"/>
              </a:spcBef>
              <a:spcAft>
                <a:spcPts val="600"/>
              </a:spcAft>
            </a:pPr>
            <a:r>
              <a:rPr sz="1500" b="1" i="0">
                <a:solidFill>
                  <a:srgbClr val="156B5E"/>
                </a:solidFill>
                <a:latin typeface="Segoe UI"/>
              </a:rPr>
              <a:t>Lessons learned</a:t>
            </a:r>
          </a:p>
        </p:txBody>
      </p:sp>
      <p:sp>
        <p:nvSpPr>
          <p:cNvPr id="15" name="TextBox 14"/>
          <p:cNvSpPr txBox="1"/>
          <p:nvPr/>
        </p:nvSpPr>
        <p:spPr>
          <a:xfrm>
            <a:off x="6400800" y="2020824"/>
            <a:ext cx="4937760" cy="4023360"/>
          </a:xfrm>
          <a:prstGeom prst="rect">
            <a:avLst/>
          </a:prstGeom>
          <a:noFill/>
        </p:spPr>
        <p:txBody>
          <a:bodyPr wrap="square" anchor="t">
            <a:spAutoFit/>
          </a:bodyPr>
          <a:lstStyle/>
          <a:p>
            <a:pPr algn="l">
              <a:spcBef>
                <a:spcPts val="0"/>
              </a:spcBef>
              <a:spcAft>
                <a:spcPts val="800"/>
              </a:spcAft>
            </a:pPr>
            <a:r>
              <a:rPr sz="1350" b="1" i="0">
                <a:solidFill>
                  <a:srgbClr val="1F9E8A"/>
                </a:solidFill>
                <a:latin typeface="Segoe UI"/>
              </a:rPr>
              <a:t>•  </a:t>
            </a:r>
            <a:r>
              <a:rPr sz="1350" b="1" i="0">
                <a:solidFill>
                  <a:srgbClr val="0E1A2B"/>
                </a:solidFill>
                <a:latin typeface="Segoe UI"/>
              </a:rPr>
              <a:t>Parsing reality is the hard part.  </a:t>
            </a:r>
            <a:r>
              <a:rPr sz="1250" b="0" i="0">
                <a:solidFill>
                  <a:srgbClr val="3A4A5E"/>
                </a:solidFill>
                <a:latin typeface="Segoe UI"/>
              </a:rPr>
              <a:t>Real labels hide traps — e.g. a Hebrew-text quirk once let a trans-fat sub-line silently overwrite total fat. Found, fixed once centrally, permanently guarded.</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Detecting a signal isn't crediting it.  </a:t>
            </a:r>
            <a:r>
              <a:rPr sz="1250" b="0" i="0">
                <a:solidFill>
                  <a:srgbClr val="3A4A5E"/>
                </a:solidFill>
                <a:latin typeface="Segoe UI"/>
              </a:rPr>
              <a:t>A value read at one step but ignored at the next is invisible — pipelines must be wired end-to-end (the yogurt-culture fix).</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Measure your priors.  </a:t>
            </a:r>
            <a:r>
              <a:rPr sz="1250" b="0" i="0">
                <a:solidFill>
                  <a:srgbClr val="3A4A5E"/>
                </a:solidFill>
                <a:latin typeface="Segoe UI"/>
              </a:rPr>
              <a:t>We assumed cereal fortification was everywhere; it was only 27% — so we dropped the penalty.</a:t>
            </a:r>
          </a:p>
          <a:p>
            <a:pPr algn="l">
              <a:spcBef>
                <a:spcPts val="0"/>
              </a:spcBef>
              <a:spcAft>
                <a:spcPts val="800"/>
              </a:spcAft>
            </a:pPr>
            <a:r>
              <a:rPr sz="1350" b="1" i="0">
                <a:solidFill>
                  <a:srgbClr val="1F9E8A"/>
                </a:solidFill>
                <a:latin typeface="Segoe UI"/>
              </a:rPr>
              <a:t>•  </a:t>
            </a:r>
            <a:r>
              <a:rPr sz="1350" b="1" i="0">
                <a:solidFill>
                  <a:srgbClr val="0E1A2B"/>
                </a:solidFill>
                <a:latin typeface="Segoe UI"/>
              </a:rPr>
              <a:t>Withholding is a feature.  </a:t>
            </a:r>
            <a:r>
              <a:rPr sz="1250" b="0" i="0">
                <a:solidFill>
                  <a:srgbClr val="3A4A5E"/>
                </a:solidFill>
                <a:latin typeface="Segoe UI"/>
              </a:rPr>
              <a:t>Benching a category we can't defend yet beats shipping a shaky one.</a:t>
            </a:r>
          </a:p>
        </p:txBody>
      </p:sp>
      <p:sp>
        <p:nvSpPr>
          <p:cNvPr id="16" name="Rectangle 15"/>
          <p:cNvSpPr/>
          <p:nvPr/>
        </p:nvSpPr>
        <p:spPr>
          <a:xfrm>
            <a:off x="0" y="6126480"/>
            <a:ext cx="12191695" cy="73152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12648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236208"/>
            <a:ext cx="10607040" cy="548640"/>
          </a:xfrm>
          <a:prstGeom prst="rect">
            <a:avLst/>
          </a:prstGeom>
          <a:noFill/>
        </p:spPr>
        <p:txBody>
          <a:bodyPr wrap="square" anchor="t">
            <a:spAutoFit/>
          </a:bodyPr>
          <a:lstStyle/>
          <a:p>
            <a:pPr algn="l">
              <a:spcBef>
                <a:spcPts val="0"/>
              </a:spcBef>
              <a:spcAft>
                <a:spcPts val="600"/>
              </a:spcAft>
            </a:pPr>
            <a:r>
              <a:rPr sz="1100" b="1" i="0">
                <a:solidFill>
                  <a:srgbClr val="156B5E"/>
                </a:solidFill>
                <a:latin typeface="Segoe UI"/>
              </a:rPr>
              <a:t>VISUAL  </a:t>
            </a:r>
            <a:r>
              <a:rPr sz="1200" b="0" i="1">
                <a:solidFill>
                  <a:srgbClr val="3A4A5E"/>
                </a:solidFill>
                <a:latin typeface="Segoe UI"/>
              </a:rPr>
              <a:t>A horizontal timeline (categories shipped over time) with lesson callouts pinned to the runs that taught them.</a:t>
            </a:r>
          </a:p>
        </p:txBody>
      </p:sp>
      <p:pic>
        <p:nvPicPr>
          <p:cNvPr id="19" name="Picture 18" descr="logo_light.png"/>
          <p:cNvPicPr>
            <a:picLocks noChangeAspect="1"/>
          </p:cNvPicPr>
          <p:nvPr/>
        </p:nvPicPr>
        <p:blipFill>
          <a:blip r:embed="rId2"/>
          <a:stretch>
            <a:fillRect/>
          </a:stretch>
        </p:blipFill>
        <p:spPr>
          <a:xfrm>
            <a:off x="10222992" y="274320"/>
            <a:ext cx="1554480" cy="560459"/>
          </a:xfrm>
          <a:prstGeom prst="rect">
            <a:avLst/>
          </a:prstGeom>
        </p:spPr>
      </p:pic>
      <p:sp>
        <p:nvSpPr>
          <p:cNvPr id="20" name="TextBox 19"/>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2191695" cy="36576"/>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15600" cy="548640"/>
          </a:xfrm>
          <a:prstGeom prst="rect">
            <a:avLst/>
          </a:prstGeom>
          <a:noFill/>
        </p:spPr>
        <p:txBody>
          <a:bodyPr wrap="square" anchor="t">
            <a:spAutoFit/>
          </a:bodyPr>
          <a:lstStyle/>
          <a:p>
            <a:pPr algn="l">
              <a:spcBef>
                <a:spcPts val="0"/>
              </a:spcBef>
              <a:spcAft>
                <a:spcPts val="600"/>
              </a:spcAft>
            </a:pPr>
            <a:r>
              <a:rPr sz="1800" b="1" i="0">
                <a:solidFill>
                  <a:srgbClr val="1F9E8A"/>
                </a:solidFill>
                <a:latin typeface="Segoe UI"/>
              </a:rPr>
              <a:t>SECTION 6</a:t>
            </a:r>
          </a:p>
        </p:txBody>
      </p:sp>
      <p:sp>
        <p:nvSpPr>
          <p:cNvPr id="5" name="TextBox 4"/>
          <p:cNvSpPr txBox="1"/>
          <p:nvPr/>
        </p:nvSpPr>
        <p:spPr>
          <a:xfrm>
            <a:off x="777240" y="2880360"/>
            <a:ext cx="10607040" cy="2194560"/>
          </a:xfrm>
          <a:prstGeom prst="rect">
            <a:avLst/>
          </a:prstGeom>
          <a:noFill/>
        </p:spPr>
        <p:txBody>
          <a:bodyPr wrap="square" anchor="t">
            <a:spAutoFit/>
          </a:bodyPr>
          <a:lstStyle/>
          <a:p>
            <a:pPr algn="l">
              <a:spcBef>
                <a:spcPts val="0"/>
              </a:spcBef>
              <a:spcAft>
                <a:spcPts val="1400"/>
              </a:spcAft>
            </a:pPr>
            <a:r>
              <a:rPr sz="4000" b="1" i="0">
                <a:solidFill>
                  <a:srgbClr val="FFFFFF"/>
                </a:solidFill>
                <a:latin typeface="Segoe UI"/>
              </a:rPr>
              <a:t>Monetization</a:t>
            </a:r>
          </a:p>
          <a:p>
            <a:pPr algn="l">
              <a:spcBef>
                <a:spcPts val="0"/>
              </a:spcBef>
              <a:spcAft>
                <a:spcPts val="1400"/>
              </a:spcAft>
            </a:pPr>
            <a:r>
              <a:rPr sz="1900" b="0" i="1">
                <a:solidFill>
                  <a:srgbClr val="B8C4D0"/>
                </a:solidFill>
                <a:latin typeface="Segoe UI"/>
              </a:rPr>
              <a:t>A staged path from audience to marketplace to ecosystem — each stage earns the right to the next.</a:t>
            </a:r>
          </a:p>
        </p:txBody>
      </p:sp>
      <p:pic>
        <p:nvPicPr>
          <p:cNvPr id="6" name="Picture 5" descr="logo_dark.png"/>
          <p:cNvPicPr>
            <a:picLocks noChangeAspect="1"/>
          </p:cNvPicPr>
          <p:nvPr/>
        </p:nvPicPr>
        <p:blipFill>
          <a:blip r:embed="rId2"/>
          <a:stretch>
            <a:fillRect/>
          </a:stretch>
        </p:blipFill>
        <p:spPr>
          <a:xfrm>
            <a:off x="10222992" y="274320"/>
            <a:ext cx="1554480" cy="560459"/>
          </a:xfrm>
          <a:prstGeom prst="rect">
            <a:avLst/>
          </a:prstGeom>
        </p:spPr>
      </p:pic>
      <p:sp>
        <p:nvSpPr>
          <p:cNvPr id="7" name="TextBox 6"/>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9FB0C0"/>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F6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27432"/>
          </a:xfrm>
          <a:prstGeom prst="rect">
            <a:avLst/>
          </a:prstGeom>
          <a:solidFill>
            <a:srgbClr val="D8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310896"/>
            <a:ext cx="109728" cy="566928"/>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
            <a:ext cx="10607040" cy="411480"/>
          </a:xfrm>
          <a:prstGeom prst="rect">
            <a:avLst/>
          </a:prstGeom>
          <a:noFill/>
        </p:spPr>
        <p:txBody>
          <a:bodyPr wrap="square" anchor="t">
            <a:spAutoFit/>
          </a:bodyPr>
          <a:lstStyle/>
          <a:p>
            <a:pPr algn="l">
              <a:spcBef>
                <a:spcPts val="0"/>
              </a:spcBef>
              <a:spcAft>
                <a:spcPts val="600"/>
              </a:spcAft>
            </a:pPr>
            <a:r>
              <a:rPr sz="1200" b="1" i="0">
                <a:solidFill>
                  <a:srgbClr val="156B5E"/>
                </a:solidFill>
                <a:latin typeface="Segoe UI"/>
              </a:rPr>
              <a:t>MONETIZATION · THE STAIRCASE</a:t>
            </a:r>
          </a:p>
        </p:txBody>
      </p:sp>
      <p:sp>
        <p:nvSpPr>
          <p:cNvPr id="7" name="TextBox 6"/>
          <p:cNvSpPr txBox="1"/>
          <p:nvPr/>
        </p:nvSpPr>
        <p:spPr>
          <a:xfrm>
            <a:off x="758952" y="548640"/>
            <a:ext cx="9966960" cy="640080"/>
          </a:xfrm>
          <a:prstGeom prst="rect">
            <a:avLst/>
          </a:prstGeom>
          <a:noFill/>
        </p:spPr>
        <p:txBody>
          <a:bodyPr wrap="square" anchor="t">
            <a:spAutoFit/>
          </a:bodyPr>
          <a:lstStyle/>
          <a:p>
            <a:pPr algn="l">
              <a:spcBef>
                <a:spcPts val="0"/>
              </a:spcBef>
              <a:spcAft>
                <a:spcPts val="600"/>
              </a:spcAft>
            </a:pPr>
            <a:r>
              <a:rPr sz="2700" b="1" i="0">
                <a:solidFill>
                  <a:srgbClr val="0E1A2B"/>
                </a:solidFill>
                <a:latin typeface="Segoe UI"/>
              </a:rPr>
              <a:t>Six stages, each de-risking the next</a:t>
            </a:r>
          </a:p>
        </p:txBody>
      </p:sp>
      <p:sp>
        <p:nvSpPr>
          <p:cNvPr id="8" name="TextBox 7"/>
          <p:cNvSpPr txBox="1"/>
          <p:nvPr/>
        </p:nvSpPr>
        <p:spPr>
          <a:xfrm>
            <a:off x="777240" y="1417320"/>
            <a:ext cx="10607040" cy="685800"/>
          </a:xfrm>
          <a:prstGeom prst="rect">
            <a:avLst/>
          </a:prstGeom>
          <a:noFill/>
        </p:spPr>
        <p:txBody>
          <a:bodyPr wrap="square" anchor="t">
            <a:spAutoFit/>
          </a:bodyPr>
          <a:lstStyle/>
          <a:p>
            <a:pPr algn="l">
              <a:spcBef>
                <a:spcPts val="0"/>
              </a:spcBef>
              <a:spcAft>
                <a:spcPts val="600"/>
              </a:spcAft>
            </a:pPr>
            <a:r>
              <a:rPr sz="1500" b="0" i="1">
                <a:solidFill>
                  <a:srgbClr val="3A4A5E"/>
                </a:solidFill>
                <a:latin typeface="Segoe UI"/>
              </a:rPr>
              <a:t>Guardrail on every stage: we monetise the transaction, never the grade.</a:t>
            </a:r>
          </a:p>
        </p:txBody>
      </p:sp>
      <p:sp>
        <p:nvSpPr>
          <p:cNvPr id="9" name="Rectangle 8"/>
          <p:cNvSpPr/>
          <p:nvPr/>
        </p:nvSpPr>
        <p:spPr>
          <a:xfrm>
            <a:off x="777240" y="2020824"/>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020824"/>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75688"/>
            <a:ext cx="4754880" cy="365760"/>
          </a:xfrm>
          <a:prstGeom prst="rect">
            <a:avLst/>
          </a:prstGeom>
          <a:noFill/>
        </p:spPr>
        <p:txBody>
          <a:bodyPr wrap="square" anchor="t">
            <a:spAutoFit/>
          </a:bodyPr>
          <a:lstStyle/>
          <a:p>
            <a:pPr algn="l">
              <a:spcBef>
                <a:spcPts val="0"/>
              </a:spcBef>
              <a:spcAft>
                <a:spcPts val="600"/>
              </a:spcAft>
            </a:pPr>
            <a:r>
              <a:rPr sz="1400" b="1" i="0">
                <a:solidFill>
                  <a:srgbClr val="156B5E"/>
                </a:solidFill>
                <a:latin typeface="Segoe UI"/>
              </a:rPr>
              <a:t>Stages 1–3</a:t>
            </a:r>
          </a:p>
        </p:txBody>
      </p:sp>
      <p:sp>
        <p:nvSpPr>
          <p:cNvPr id="12" name="TextBox 11"/>
          <p:cNvSpPr txBox="1"/>
          <p:nvPr/>
        </p:nvSpPr>
        <p:spPr>
          <a:xfrm>
            <a:off x="822960" y="2624328"/>
            <a:ext cx="4937760" cy="2286000"/>
          </a:xfrm>
          <a:prstGeom prst="rect">
            <a:avLst/>
          </a:prstGeom>
          <a:noFill/>
        </p:spPr>
        <p:txBody>
          <a:bodyPr wrap="square" anchor="t">
            <a:spAutoFit/>
          </a:bodyPr>
          <a:lstStyle/>
          <a:p>
            <a:pPr algn="l">
              <a:spcBef>
                <a:spcPts val="0"/>
              </a:spcBef>
              <a:spcAft>
                <a:spcPts val="500"/>
              </a:spcAft>
            </a:pPr>
            <a:r>
              <a:rPr sz="1250" b="1" i="0">
                <a:solidFill>
                  <a:srgbClr val="1F9E8A"/>
                </a:solidFill>
                <a:latin typeface="Segoe UI"/>
              </a:rPr>
              <a:t>•  </a:t>
            </a:r>
            <a:r>
              <a:rPr sz="1250" b="1" i="0">
                <a:solidFill>
                  <a:srgbClr val="0E1A2B"/>
                </a:solidFill>
                <a:latin typeface="Segoe UI"/>
              </a:rPr>
              <a:t>1 · Audience + trust.  </a:t>
            </a:r>
            <a:r>
              <a:rPr sz="1150" b="0" i="0">
                <a:solidFill>
                  <a:srgbClr val="3A4A5E"/>
                </a:solidFill>
                <a:latin typeface="Segoe UI"/>
              </a:rPr>
              <a:t>Free comparisons. Cheap reach; slow, indirect revenue.</a:t>
            </a:r>
          </a:p>
          <a:p>
            <a:pPr algn="l">
              <a:spcBef>
                <a:spcPts val="0"/>
              </a:spcBef>
              <a:spcAft>
                <a:spcPts val="500"/>
              </a:spcAft>
            </a:pPr>
            <a:r>
              <a:rPr sz="1250" b="1" i="0">
                <a:solidFill>
                  <a:srgbClr val="1F9E8A"/>
                </a:solidFill>
                <a:latin typeface="Segoe UI"/>
              </a:rPr>
              <a:t>•  </a:t>
            </a:r>
            <a:r>
              <a:rPr sz="1250" b="1" i="0">
                <a:solidFill>
                  <a:srgbClr val="0E1A2B"/>
                </a:solidFill>
                <a:latin typeface="Segoe UI"/>
              </a:rPr>
              <a:t>2 · Content + influence.  </a:t>
            </a:r>
            <a:r>
              <a:rPr sz="1150" b="0" i="0">
                <a:solidFill>
                  <a:srgbClr val="3A4A5E"/>
                </a:solidFill>
                <a:latin typeface="Segoe UI"/>
              </a:rPr>
              <a:t>Editorial authority. Compounds trust; mustn't sell out.</a:t>
            </a:r>
          </a:p>
          <a:p>
            <a:pPr algn="l">
              <a:spcBef>
                <a:spcPts val="0"/>
              </a:spcBef>
              <a:spcAft>
                <a:spcPts val="500"/>
              </a:spcAft>
            </a:pPr>
            <a:r>
              <a:rPr sz="1250" b="1" i="0">
                <a:solidFill>
                  <a:srgbClr val="1F9E8A"/>
                </a:solidFill>
                <a:latin typeface="Segoe UI"/>
              </a:rPr>
              <a:t>•  </a:t>
            </a:r>
            <a:r>
              <a:rPr sz="1250" b="1" i="0">
                <a:solidFill>
                  <a:srgbClr val="0E1A2B"/>
                </a:solidFill>
                <a:latin typeface="Segoe UI"/>
              </a:rPr>
              <a:t>3 · Professional subs.  </a:t>
            </a:r>
            <a:r>
              <a:rPr sz="1150" b="0" i="0">
                <a:solidFill>
                  <a:srgbClr val="3A4A5E"/>
                </a:solidFill>
                <a:latin typeface="Segoe UI"/>
              </a:rPr>
              <a:t>Tools for clinics. Real willingness-to-pay; needs depth.</a:t>
            </a:r>
          </a:p>
        </p:txBody>
      </p:sp>
      <p:sp>
        <p:nvSpPr>
          <p:cNvPr id="13" name="Rectangle 12"/>
          <p:cNvSpPr/>
          <p:nvPr/>
        </p:nvSpPr>
        <p:spPr>
          <a:xfrm>
            <a:off x="6355080" y="2020824"/>
            <a:ext cx="5029200" cy="457200"/>
          </a:xfrm>
          <a:prstGeom prst="rect">
            <a:avLst/>
          </a:prstGeom>
          <a:solidFill>
            <a:srgbClr val="EC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020824"/>
            <a:ext cx="91440" cy="457200"/>
          </a:xfrm>
          <a:prstGeom prst="rect">
            <a:avLst/>
          </a:prstGeom>
          <a:solidFill>
            <a:srgbClr val="1F9E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075688"/>
            <a:ext cx="4754880" cy="365760"/>
          </a:xfrm>
          <a:prstGeom prst="rect">
            <a:avLst/>
          </a:prstGeom>
          <a:noFill/>
        </p:spPr>
        <p:txBody>
          <a:bodyPr wrap="square" anchor="t">
            <a:spAutoFit/>
          </a:bodyPr>
          <a:lstStyle/>
          <a:p>
            <a:pPr algn="l">
              <a:spcBef>
                <a:spcPts val="0"/>
              </a:spcBef>
              <a:spcAft>
                <a:spcPts val="600"/>
              </a:spcAft>
            </a:pPr>
            <a:r>
              <a:rPr sz="1400" b="1" i="0">
                <a:solidFill>
                  <a:srgbClr val="156B5E"/>
                </a:solidFill>
                <a:latin typeface="Segoe UI"/>
              </a:rPr>
              <a:t>Stages 4–6</a:t>
            </a:r>
          </a:p>
        </p:txBody>
      </p:sp>
      <p:sp>
        <p:nvSpPr>
          <p:cNvPr id="16" name="TextBox 15"/>
          <p:cNvSpPr txBox="1"/>
          <p:nvPr/>
        </p:nvSpPr>
        <p:spPr>
          <a:xfrm>
            <a:off x="6400800" y="2624328"/>
            <a:ext cx="4937760" cy="2286000"/>
          </a:xfrm>
          <a:prstGeom prst="rect">
            <a:avLst/>
          </a:prstGeom>
          <a:noFill/>
        </p:spPr>
        <p:txBody>
          <a:bodyPr wrap="square" anchor="t">
            <a:spAutoFit/>
          </a:bodyPr>
          <a:lstStyle/>
          <a:p>
            <a:pPr algn="l">
              <a:spcBef>
                <a:spcPts val="0"/>
              </a:spcBef>
              <a:spcAft>
                <a:spcPts val="500"/>
              </a:spcAft>
            </a:pPr>
            <a:r>
              <a:rPr sz="1250" b="1" i="0">
                <a:solidFill>
                  <a:srgbClr val="1F9E8A"/>
                </a:solidFill>
                <a:latin typeface="Segoe UI"/>
              </a:rPr>
              <a:t>•  </a:t>
            </a:r>
            <a:r>
              <a:rPr sz="1250" b="1" i="0">
                <a:solidFill>
                  <a:srgbClr val="0E1A2B"/>
                </a:solidFill>
                <a:latin typeface="Segoe UI"/>
              </a:rPr>
              <a:t>4 · Commerce / marketplace.  </a:t>
            </a:r>
            <a:r>
              <a:rPr sz="1150" b="0" i="0">
                <a:solidFill>
                  <a:srgbClr val="3A4A5E"/>
                </a:solidFill>
                <a:latin typeface="Segoe UI"/>
              </a:rPr>
              <a:t>Discover → buy better products. Scales with trust; stays grade-blind.</a:t>
            </a:r>
          </a:p>
          <a:p>
            <a:pPr algn="l">
              <a:spcBef>
                <a:spcPts val="0"/>
              </a:spcBef>
              <a:spcAft>
                <a:spcPts val="500"/>
              </a:spcAft>
            </a:pPr>
            <a:r>
              <a:rPr sz="1250" b="1" i="0">
                <a:solidFill>
                  <a:srgbClr val="1F9E8A"/>
                </a:solidFill>
                <a:latin typeface="Segoe UI"/>
              </a:rPr>
              <a:t>•  </a:t>
            </a:r>
            <a:r>
              <a:rPr sz="1250" b="1" i="0">
                <a:solidFill>
                  <a:srgbClr val="0E1A2B"/>
                </a:solidFill>
                <a:latin typeface="Segoe UI"/>
              </a:rPr>
              <a:t>5 · Industry intelligence.  </a:t>
            </a:r>
            <a:r>
              <a:rPr sz="1150" b="0" i="0">
                <a:solidFill>
                  <a:srgbClr val="3A4A5E"/>
                </a:solidFill>
                <a:latin typeface="Segoe UI"/>
              </a:rPr>
              <a:t>Shelf insight for retailers. High-value; conflicts governed hard.</a:t>
            </a:r>
          </a:p>
          <a:p>
            <a:pPr algn="l">
              <a:spcBef>
                <a:spcPts val="0"/>
              </a:spcBef>
              <a:spcAft>
                <a:spcPts val="500"/>
              </a:spcAft>
            </a:pPr>
            <a:r>
              <a:rPr sz="1250" b="1" i="0">
                <a:solidFill>
                  <a:srgbClr val="1F9E8A"/>
                </a:solidFill>
                <a:latin typeface="Segoe UI"/>
              </a:rPr>
              <a:t>•  </a:t>
            </a:r>
            <a:r>
              <a:rPr sz="1250" b="1" i="0">
                <a:solidFill>
                  <a:srgbClr val="0E1A2B"/>
                </a:solidFill>
                <a:latin typeface="Segoe UI"/>
              </a:rPr>
              <a:t>6 · Retail / ecosystem.  </a:t>
            </a:r>
            <a:r>
              <a:rPr sz="1150" b="0" i="0">
                <a:solidFill>
                  <a:srgbClr val="3A4A5E"/>
                </a:solidFill>
                <a:latin typeface="Segoe UI"/>
              </a:rPr>
              <a:t>Engine licensing. Durable, defensible; execution + geography cost.</a:t>
            </a:r>
          </a:p>
        </p:txBody>
      </p:sp>
      <p:pic>
        <p:nvPicPr>
          <p:cNvPr id="17" name="Picture 16" descr="monetization_staircase.png"/>
          <p:cNvPicPr>
            <a:picLocks noChangeAspect="1"/>
          </p:cNvPicPr>
          <p:nvPr/>
        </p:nvPicPr>
        <p:blipFill>
          <a:blip r:embed="rId2"/>
          <a:stretch>
            <a:fillRect/>
          </a:stretch>
        </p:blipFill>
        <p:spPr>
          <a:xfrm>
            <a:off x="609447" y="4919902"/>
            <a:ext cx="10972800" cy="1736930"/>
          </a:xfrm>
          <a:prstGeom prst="rect">
            <a:avLst/>
          </a:prstGeom>
        </p:spPr>
      </p:pic>
      <p:pic>
        <p:nvPicPr>
          <p:cNvPr id="18" name="Picture 17" descr="logo_light.png"/>
          <p:cNvPicPr>
            <a:picLocks noChangeAspect="1"/>
          </p:cNvPicPr>
          <p:nvPr/>
        </p:nvPicPr>
        <p:blipFill>
          <a:blip r:embed="rId3"/>
          <a:stretch>
            <a:fillRect/>
          </a:stretch>
        </p:blipFill>
        <p:spPr>
          <a:xfrm>
            <a:off x="10222992" y="274320"/>
            <a:ext cx="1554480" cy="560459"/>
          </a:xfrm>
          <a:prstGeom prst="rect">
            <a:avLst/>
          </a:prstGeom>
        </p:spPr>
      </p:pic>
      <p:sp>
        <p:nvSpPr>
          <p:cNvPr id="19" name="TextBox 18"/>
          <p:cNvSpPr txBox="1"/>
          <p:nvPr/>
        </p:nvSpPr>
        <p:spPr>
          <a:xfrm>
            <a:off x="11292840" y="6419088"/>
            <a:ext cx="731520" cy="365760"/>
          </a:xfrm>
          <a:prstGeom prst="rect">
            <a:avLst/>
          </a:prstGeom>
          <a:noFill/>
        </p:spPr>
        <p:txBody>
          <a:bodyPr wrap="square" anchor="t">
            <a:spAutoFit/>
          </a:bodyPr>
          <a:lstStyle/>
          <a:p>
            <a:pPr algn="r">
              <a:spcBef>
                <a:spcPts val="0"/>
              </a:spcBef>
              <a:spcAft>
                <a:spcPts val="600"/>
              </a:spcAft>
            </a:pPr>
            <a:r>
              <a:rPr sz="1100" b="0" i="0">
                <a:solidFill>
                  <a:srgbClr val="6B7A8C"/>
                </a:solidFill>
                <a:latin typeface="Segoe U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